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3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62" r:id="rId13"/>
    <p:sldId id="268" r:id="rId19"/>
    <p:sldId id="271" r:id="rId22"/>
    <p:sldId id="277" r:id="rId28"/>
    <p:sldId id="292" r:id="rId43"/>
    <p:sldId id="297" r:id="rId48"/>
    <p:sldId id="301" r:id="rId52"/>
    <p:sldId id="310" r:id="rId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9" Type="http://schemas.openxmlformats.org/officeDocument/2006/relationships/slide" Target="slides/slide13.xml"/><Relationship Id="rId22" Type="http://schemas.openxmlformats.org/officeDocument/2006/relationships/slide" Target="slides/slide16.xml"/><Relationship Id="rId28" Type="http://schemas.openxmlformats.org/officeDocument/2006/relationships/slide" Target="slides/slide22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2" Type="http://schemas.openxmlformats.org/officeDocument/2006/relationships/slide" Target="slides/slide46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90700"/>
            <a:ext cx="2536825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000" b="0">
                <a:solidFill>
                  <a:schemeClr val="accent5"/>
                </a:solidFill>
              </a:rPr>
              <a:t>論点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58800" y="2038350"/>
            <a:ext cx="2536825" cy="0"/>
          </a:xfrm>
          <a:prstGeom prst="line">
            <a:avLst/>
          </a:prstGeom>
          <a:ln w="12700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095625" y="1790700"/>
            <a:ext cx="345694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000" b="0">
                <a:solidFill>
                  <a:schemeClr val="accent5"/>
                </a:solidFill>
              </a:rPr>
              <a:t>求める決定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5625" y="2038350"/>
            <a:ext cx="3456940" cy="0"/>
          </a:xfrm>
          <a:prstGeom prst="line">
            <a:avLst/>
          </a:prstGeom>
          <a:ln w="12700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51930" y="1790700"/>
            <a:ext cx="386842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000" b="0">
                <a:solidFill>
                  <a:schemeClr val="accent5"/>
                </a:solidFill>
              </a:rPr>
              <a:t>主要根拠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51930" y="2038350"/>
            <a:ext cx="3868420" cy="0"/>
          </a:xfrm>
          <a:prstGeom prst="line">
            <a:avLst/>
          </a:prstGeom>
          <a:ln w="12700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420350" y="1790700"/>
            <a:ext cx="1225550" cy="25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000" b="0">
                <a:solidFill>
                  <a:schemeClr val="accent5"/>
                </a:solidFill>
              </a:rPr>
              <a:t>詳細参照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420350" y="2038350"/>
            <a:ext cx="1225550" cy="0"/>
          </a:xfrm>
          <a:prstGeom prst="line">
            <a:avLst/>
          </a:prstGeom>
          <a:ln w="12700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58800" y="2044700"/>
            <a:ext cx="2536825" cy="9874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l"/>
            <a:r>
              <a:rPr sz="1100" b="1">
                <a:solidFill>
                  <a:schemeClr val="accent1"/>
                </a:solidFill>
              </a:rPr>
              <a:t>①</a:t>
            </a:r>
            <a:r>
              <a:rPr sz="1100" b="1">
                <a:solidFill>
                  <a:schemeClr val="tx1"/>
                </a:solidFill>
              </a:rPr>
              <a:t> 柱A｜ポートフォリオ再配分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8800" y="3028950"/>
            <a:ext cx="2536825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1500" y="2044700"/>
            <a:ext cx="0" cy="987425"/>
          </a:xfrm>
          <a:prstGeom prst="line">
            <a:avLst/>
          </a:prstGeom>
          <a:ln w="254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095625" y="2044700"/>
            <a:ext cx="3456940" cy="9874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100" b="1">
                <a:solidFill>
                  <a:schemeClr val="tx1"/>
                </a:solidFill>
              </a:rPr>
              <a:t>車載・医療・Careへ成長投資420億円を再配分する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95625" y="3028950"/>
            <a:ext cx="345694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551930" y="2044700"/>
            <a:ext cx="3868420" cy="9874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l"/>
            <a:r>
              <a:rPr sz="1100" b="0">
                <a:solidFill>
                  <a:schemeClr val="tx1"/>
                </a:solidFill>
              </a:rPr>
              <a:t>2030年市場は車載+1.2兆円・医療/サービス+1.0兆円。売上58%のFA偏重では成長を取り逃す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51930" y="3028950"/>
            <a:ext cx="386842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420350" y="2044700"/>
            <a:ext cx="1225550" cy="9874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000" b="0">
                <a:solidFill>
                  <a:schemeClr val="accent5"/>
                </a:solidFill>
              </a:rPr>
              <a:t>第2章 p.8-14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20350" y="3028950"/>
            <a:ext cx="122555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58800" y="3032125"/>
            <a:ext cx="2536825" cy="984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100" b="1">
                <a:solidFill>
                  <a:schemeClr val="accent1"/>
                </a:solidFill>
              </a:rPr>
              <a:t>②</a:t>
            </a:r>
            <a:r>
              <a:rPr sz="1100" b="1">
                <a:solidFill>
                  <a:schemeClr val="tx1"/>
                </a:solidFill>
              </a:rPr>
              <a:t> 柱B｜コスト構造改革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8800" y="4013200"/>
            <a:ext cx="2536825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095625" y="3032125"/>
            <a:ext cx="3456940" cy="984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l"/>
            <a:r>
              <a:rPr sz="1100" b="1">
                <a:solidFill>
                  <a:schemeClr val="tx1"/>
                </a:solidFill>
              </a:rPr>
              <a:t>製造原価を▲68億円（指数100→90）圧縮し、①の原資にする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95625" y="4013200"/>
            <a:ext cx="345694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551930" y="3032125"/>
            <a:ext cx="3868420" cy="984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l"/>
            <a:r>
              <a:rPr sz="1100" b="0">
                <a:solidFill>
                  <a:schemeClr val="tx1"/>
                </a:solidFill>
              </a:rPr>
              <a:t>材料と間接費で製造原価の58%を占め、集中購買・型番削減・自動化に削減余地がある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51930" y="4013200"/>
            <a:ext cx="386842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0420350" y="3032125"/>
            <a:ext cx="1225550" cy="984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000" b="0">
                <a:solidFill>
                  <a:schemeClr val="accent5"/>
                </a:solidFill>
              </a:rPr>
              <a:t>第3章 p.15-21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420350" y="4013200"/>
            <a:ext cx="122555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58800" y="4016375"/>
            <a:ext cx="2536825" cy="984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100" b="1">
                <a:solidFill>
                  <a:schemeClr val="accent1"/>
                </a:solidFill>
              </a:rPr>
              <a:t>③</a:t>
            </a:r>
            <a:r>
              <a:rPr sz="1100" b="1">
                <a:solidFill>
                  <a:schemeClr val="tx1"/>
                </a:solidFill>
              </a:rPr>
              <a:t> 柱C｜サービスモデル転換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58800" y="4997450"/>
            <a:ext cx="2536825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095625" y="4016375"/>
            <a:ext cx="3456940" cy="984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100" b="1">
                <a:solidFill>
                  <a:schemeClr val="tx1"/>
                </a:solidFill>
              </a:rPr>
              <a:t>Care売上を80→300億円（FY2030）へ拡大する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95625" y="4997450"/>
            <a:ext cx="345694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551930" y="4016375"/>
            <a:ext cx="3868420" cy="984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l"/>
            <a:r>
              <a:rPr sz="1100" b="0">
                <a:solidFill>
                  <a:schemeClr val="tx1"/>
                </a:solidFill>
              </a:rPr>
              <a:t>Care利益率11%は全社6.2%の約1.8倍。継続収益への転換で①の回収確度が上がる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51930" y="4997450"/>
            <a:ext cx="386842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420350" y="4016375"/>
            <a:ext cx="1225550" cy="984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000" b="0">
                <a:solidFill>
                  <a:schemeClr val="accent5"/>
                </a:solidFill>
              </a:rPr>
              <a:t>第4章 p.22-28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420350" y="4997450"/>
            <a:ext cx="122555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58800" y="5000625"/>
            <a:ext cx="2536825" cy="984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100" b="1">
                <a:solidFill>
                  <a:schemeClr val="accent1"/>
                </a:solidFill>
              </a:rPr>
              <a:t>④</a:t>
            </a:r>
            <a:r>
              <a:rPr sz="1100" b="1">
                <a:solidFill>
                  <a:schemeClr val="tx1"/>
                </a:solidFill>
              </a:rPr>
              <a:t> 柱D｜組織・プロセス改革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58800" y="5981700"/>
            <a:ext cx="2536825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095625" y="5000625"/>
            <a:ext cx="3456940" cy="984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100" b="1">
                <a:solidFill>
                  <a:schemeClr val="tx1"/>
                </a:solidFill>
              </a:rPr>
              <a:t>7→5階層・リードタイム42→21日へ半減する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95625" y="5981700"/>
            <a:ext cx="345694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551930" y="5000625"/>
            <a:ext cx="3868420" cy="984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l"/>
            <a:r>
              <a:rPr sz="1100" b="0">
                <a:solidFill>
                  <a:schemeClr val="tx1"/>
                </a:solidFill>
              </a:rPr>
              <a:t>リードタイム42日のうち実作業は9日のみで、滞留33日の主因は階層と承認プロセス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51930" y="5981700"/>
            <a:ext cx="386842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0420350" y="5000625"/>
            <a:ext cx="1225550" cy="984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000" b="0">
                <a:solidFill>
                  <a:schemeClr val="accent5"/>
                </a:solidFill>
              </a:rPr>
              <a:t>第5章 p.29-35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420350" y="5981700"/>
            <a:ext cx="122555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secja"/>
          <p:cNvSpPr txBox="1"/>
          <p:nvPr/>
        </p:nvSpPr>
        <p:spPr>
          <a:xfrm>
            <a:off x="546100" y="438150"/>
            <a:ext cx="1918208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accent1"/>
                </a:solidFill>
              </a:rPr>
              <a:t>エグゼクティブサマリ</a:t>
            </a:r>
          </a:p>
        </p:txBody>
      </p:sp>
      <p:sp>
        <p:nvSpPr>
          <p:cNvPr id="44" name="head"/>
          <p:cNvSpPr txBox="1"/>
          <p:nvPr/>
        </p:nvSpPr>
        <p:spPr>
          <a:xfrm>
            <a:off x="546100" y="831850"/>
            <a:ext cx="12775323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chemeClr val="tx1"/>
                </a:solidFill>
              </a:rPr>
              <a:t>削減で生む原資が成長投資を支えるため、4件は一括での承認が必要だ</a:t>
            </a:r>
          </a:p>
        </p:txBody>
      </p:sp>
      <p:sp>
        <p:nvSpPr>
          <p:cNvPr id="45" name="lead"/>
          <p:cNvSpPr txBox="1"/>
          <p:nvPr/>
        </p:nvSpPr>
        <p:spPr>
          <a:xfrm>
            <a:off x="546100" y="1507490"/>
            <a:ext cx="11807431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論点と決定事項の一覧（金額はFY2026-2030累計・億円）</a:t>
            </a:r>
          </a:p>
        </p:txBody>
      </p:sp>
      <p:sp>
        <p:nvSpPr>
          <p:cNvPr id="46" name="note_text"/>
          <p:cNvSpPr txBox="1"/>
          <p:nvPr/>
        </p:nvSpPr>
        <p:spPr>
          <a:xfrm>
            <a:off x="546100" y="6267450"/>
            <a:ext cx="5468391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accent5"/>
                </a:solidFill>
              </a:rPr>
              <a:t>注：番号①〜④は最終章「クロージング決定」の決定事項と対応。詳細参照は本資料の章・ページ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6100" y="6546850"/>
            <a:ext cx="4578972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出所：アルタイル精機 経営企画部の整理（数値はすべて架空のモデル値）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51895" y="6546850"/>
            <a:ext cx="44640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型02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070100"/>
            <a:ext cx="2514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900" b="0">
                <a:solidFill>
                  <a:schemeClr val="accent5"/>
                </a:solidFill>
              </a:rPr>
              <a:t>決定事項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6100" y="2292350"/>
            <a:ext cx="2514600" cy="0"/>
          </a:xfrm>
          <a:prstGeom prst="line">
            <a:avLst/>
          </a:prstGeom>
          <a:ln w="12700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060700" y="2070100"/>
            <a:ext cx="4038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900" b="0">
                <a:solidFill>
                  <a:schemeClr val="accent5"/>
                </a:solidFill>
              </a:rPr>
              <a:t>内容・数値目標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60700" y="2292350"/>
            <a:ext cx="4038600" cy="0"/>
          </a:xfrm>
          <a:prstGeom prst="line">
            <a:avLst/>
          </a:prstGeom>
          <a:ln w="12700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099300" y="2070100"/>
            <a:ext cx="13462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900" b="0">
                <a:solidFill>
                  <a:schemeClr val="accent5"/>
                </a:solidFill>
              </a:rPr>
              <a:t>オーナー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099300" y="2292350"/>
            <a:ext cx="1346200" cy="0"/>
          </a:xfrm>
          <a:prstGeom prst="line">
            <a:avLst/>
          </a:prstGeom>
          <a:ln w="12700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445500" y="2070100"/>
            <a:ext cx="320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900" b="0">
                <a:solidFill>
                  <a:schemeClr val="accent5"/>
                </a:solidFill>
              </a:rPr>
              <a:t>直近アクション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45500" y="2292350"/>
            <a:ext cx="3200400" cy="0"/>
          </a:xfrm>
          <a:prstGeom prst="line">
            <a:avLst/>
          </a:prstGeom>
          <a:ln w="12700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6100" y="2298700"/>
            <a:ext cx="2514600" cy="4819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100" b="1">
                <a:solidFill>
                  <a:schemeClr val="accent1"/>
                </a:solidFill>
              </a:rPr>
              <a:t>①</a:t>
            </a:r>
            <a:r>
              <a:rPr sz="1100" b="1">
                <a:solidFill>
                  <a:schemeClr val="tx1"/>
                </a:solidFill>
              </a:rPr>
              <a:t> 柱A｜ポートフォリオ再配分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6100" y="2777490"/>
            <a:ext cx="25146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060700" y="2298700"/>
            <a:ext cx="4038600" cy="4819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100" b="1">
                <a:solidFill>
                  <a:schemeClr val="tx1"/>
                </a:solidFill>
              </a:rPr>
              <a:t>車載・医療・Careへ成長投資420億円（FY2026-2030累計）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0700" y="2777490"/>
            <a:ext cx="40386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099300" y="2298700"/>
            <a:ext cx="1346200" cy="4819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000" b="0">
                <a:solidFill>
                  <a:schemeClr val="tx1"/>
                </a:solidFill>
              </a:rPr>
              <a:t>経営企画部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99300" y="2777490"/>
            <a:ext cx="13462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445500" y="2298700"/>
            <a:ext cx="3200400" cy="4819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000" b="0">
                <a:solidFill>
                  <a:schemeClr val="tx1"/>
                </a:solidFill>
              </a:rPr>
              <a:t>9月投資委員会で個別案件の審議を開始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45500" y="2777490"/>
            <a:ext cx="32004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6100" y="2780665"/>
            <a:ext cx="2514600" cy="4787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100" b="1">
                <a:solidFill>
                  <a:schemeClr val="accent1"/>
                </a:solidFill>
              </a:rPr>
              <a:t>②</a:t>
            </a:r>
            <a:r>
              <a:rPr sz="1100" b="1">
                <a:solidFill>
                  <a:schemeClr val="tx1"/>
                </a:solidFill>
              </a:rPr>
              <a:t> 柱B｜コスト構造改革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6100" y="3256279"/>
            <a:ext cx="25146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60700" y="2780665"/>
            <a:ext cx="4038600" cy="4787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100" b="1">
                <a:solidFill>
                  <a:schemeClr val="tx1"/>
                </a:solidFill>
              </a:rPr>
              <a:t>製造原価▲68億円（指数100→90・FY2028まで）。①の原資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60700" y="3256279"/>
            <a:ext cx="40386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099300" y="2780665"/>
            <a:ext cx="1346200" cy="4787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000" b="0">
                <a:solidFill>
                  <a:schemeClr val="tx1"/>
                </a:solidFill>
              </a:rPr>
              <a:t>生産本部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9300" y="3256279"/>
            <a:ext cx="13462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445500" y="2780665"/>
            <a:ext cx="3200400" cy="4787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000" b="0">
                <a:solidFill>
                  <a:schemeClr val="tx1"/>
                </a:solidFill>
              </a:rPr>
              <a:t>10月に集中購買・型番削減へ着手（初年度の先行施策）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45500" y="3256279"/>
            <a:ext cx="32004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6100" y="3260090"/>
            <a:ext cx="2514600" cy="4787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100" b="1">
                <a:solidFill>
                  <a:schemeClr val="accent1"/>
                </a:solidFill>
              </a:rPr>
              <a:t>③</a:t>
            </a:r>
            <a:r>
              <a:rPr sz="1100" b="1">
                <a:solidFill>
                  <a:schemeClr val="tx1"/>
                </a:solidFill>
              </a:rPr>
              <a:t> 柱C｜サービスモデル転換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6100" y="3735704"/>
            <a:ext cx="25146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060700" y="3260090"/>
            <a:ext cx="4038600" cy="4787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100" b="1">
                <a:solidFill>
                  <a:schemeClr val="tx1"/>
                </a:solidFill>
              </a:rPr>
              <a:t>Care売上 80→300億円（FY2030）・専任組織の新設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60700" y="3735704"/>
            <a:ext cx="40386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099300" y="3260090"/>
            <a:ext cx="1346200" cy="4787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000" b="0">
                <a:solidFill>
                  <a:schemeClr val="tx1"/>
                </a:solidFill>
              </a:rPr>
              <a:t>サービス事業部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99300" y="3735704"/>
            <a:ext cx="13462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445500" y="3260090"/>
            <a:ext cx="3200400" cy="4787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000" b="0">
                <a:solidFill>
                  <a:schemeClr val="tx1"/>
                </a:solidFill>
              </a:rPr>
              <a:t>9月に専任組織を設置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45500" y="3735704"/>
            <a:ext cx="32004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46100" y="3738879"/>
            <a:ext cx="2514600" cy="4787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100" b="1">
                <a:solidFill>
                  <a:schemeClr val="accent1"/>
                </a:solidFill>
              </a:rPr>
              <a:t>④</a:t>
            </a:r>
            <a:r>
              <a:rPr sz="1100" b="1">
                <a:solidFill>
                  <a:schemeClr val="tx1"/>
                </a:solidFill>
              </a:rPr>
              <a:t> 柱D｜組織・プロセス改革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6100" y="4214495"/>
            <a:ext cx="25146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060700" y="3738879"/>
            <a:ext cx="4038600" cy="4787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100" b="1">
                <a:solidFill>
                  <a:schemeClr val="tx1"/>
                </a:solidFill>
              </a:rPr>
              <a:t>7→5階層への移行・リードタイム42→21日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060700" y="4214495"/>
            <a:ext cx="40386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099300" y="3738879"/>
            <a:ext cx="1346200" cy="4787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000" b="0">
                <a:solidFill>
                  <a:schemeClr val="tx1"/>
                </a:solidFill>
              </a:rPr>
              <a:t>業務改革室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099300" y="4214495"/>
            <a:ext cx="13462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445500" y="3738879"/>
            <a:ext cx="3200400" cy="4787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25400" bIns="25400"/>
          <a:lstStyle/>
          <a:p>
            <a:pPr algn="l"/>
            <a:r>
              <a:rPr sz="1000" b="0">
                <a:solidFill>
                  <a:schemeClr val="tx1"/>
                </a:solidFill>
              </a:rPr>
              <a:t>FY2026下期に新体制へ移行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445500" y="4214495"/>
            <a:ext cx="32004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261100" y="4699000"/>
            <a:ext cx="1689100" cy="134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261100" y="4718050"/>
            <a:ext cx="1689100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947025" y="4699000"/>
            <a:ext cx="0" cy="134620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261100" y="6042025"/>
            <a:ext cx="16891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264275" y="4699000"/>
            <a:ext cx="0" cy="134620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108950" y="4699000"/>
            <a:ext cx="1689100" cy="134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8108950" y="4718050"/>
            <a:ext cx="1689100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794875" y="4699000"/>
            <a:ext cx="0" cy="134620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108950" y="6042025"/>
            <a:ext cx="16891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112125" y="4699000"/>
            <a:ext cx="0" cy="134620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9956800" y="4699000"/>
            <a:ext cx="1689100" cy="134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9956800" y="4718050"/>
            <a:ext cx="1689100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642725" y="4699000"/>
            <a:ext cx="0" cy="134620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956800" y="6042025"/>
            <a:ext cx="16891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959975" y="4699000"/>
            <a:ext cx="0" cy="134620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secja"/>
          <p:cNvSpPr txBox="1"/>
          <p:nvPr/>
        </p:nvSpPr>
        <p:spPr>
          <a:xfrm>
            <a:off x="546100" y="438150"/>
            <a:ext cx="1608747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accent1"/>
                </a:solidFill>
              </a:rPr>
              <a:t>クロージング決定</a:t>
            </a:r>
          </a:p>
        </p:txBody>
      </p:sp>
      <p:sp>
        <p:nvSpPr>
          <p:cNvPr id="58" name="head"/>
          <p:cNvSpPr txBox="1"/>
          <p:nvPr/>
        </p:nvSpPr>
        <p:spPr>
          <a:xfrm>
            <a:off x="546100" y="831850"/>
            <a:ext cx="12821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chemeClr val="tx1"/>
                </a:solidFill>
              </a:rPr>
              <a:t>4件を一括で承認いただければ、中計は初年度の削減施策から始動できる</a:t>
            </a:r>
          </a:p>
        </p:txBody>
      </p:sp>
      <p:sp>
        <p:nvSpPr>
          <p:cNvPr id="59" name="lead"/>
          <p:cNvSpPr txBox="1"/>
          <p:nvPr/>
        </p:nvSpPr>
        <p:spPr>
          <a:xfrm>
            <a:off x="546100" y="1507490"/>
            <a:ext cx="12058777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決定事項・直近スケジュール・投資の考え方（ALTAIR 2030／FY2026-2030）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6100" y="1873250"/>
            <a:ext cx="1978152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accent1"/>
                </a:solidFill>
              </a:rPr>
              <a:t>決定事項（承認対象①〜④）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6100" y="4451350"/>
            <a:ext cx="2549867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accent1"/>
                </a:solidFill>
              </a:rPr>
              <a:t>直近スケジュール（承認後の進め方）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6100" y="5803900"/>
            <a:ext cx="6660527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accent5"/>
                </a:solidFill>
              </a:rPr>
              <a:t>11月以降：四半期ごとに経営会議へ進捗を報告（KPI：営業利益率・Care売上比率・型番数）。塗り＝確定、枠線＝計画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1100" y="4451350"/>
            <a:ext cx="2775407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accent1"/>
                </a:solidFill>
              </a:rPr>
              <a:t>投資の考え方（投資委員会の審議基準）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94450" y="4895850"/>
            <a:ext cx="157480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投資総枠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94450" y="5124450"/>
            <a:ext cx="1658315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chemeClr val="accent1"/>
                </a:solidFill>
              </a:rPr>
              <a:t>600億円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94450" y="5562600"/>
            <a:ext cx="15176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chemeClr val="accent5"/>
                </a:solidFill>
              </a:rPr>
              <a:t>FY2026-2030累計（成長420億＋基盤維持180億）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42300" y="4895850"/>
            <a:ext cx="157480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成長投資比率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42300" y="5124450"/>
            <a:ext cx="1574800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chemeClr val="accent1"/>
                </a:solidFill>
              </a:rPr>
              <a:t>70%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42300" y="5562600"/>
            <a:ext cx="15176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chemeClr val="accent5"/>
                </a:solidFill>
              </a:rPr>
              <a:t>600億円のうち420億円を車載・医療・Careへ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90150" y="4895850"/>
            <a:ext cx="157480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回収基準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90150" y="5124450"/>
            <a:ext cx="1634426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chemeClr val="accent1"/>
                </a:solidFill>
              </a:rPr>
              <a:t>5年以内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90150" y="5562600"/>
            <a:ext cx="15176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chemeClr val="accent5"/>
                </a:solidFill>
              </a:rPr>
              <a:t>案件ごとの投資回収期間。未達見込みは撤退を検討</a:t>
            </a:r>
          </a:p>
        </p:txBody>
      </p:sp>
      <p:sp>
        <p:nvSpPr>
          <p:cNvPr id="73" name="note_text"/>
          <p:cNvSpPr txBox="1"/>
          <p:nvPr/>
        </p:nvSpPr>
        <p:spPr>
          <a:xfrm>
            <a:off x="546100" y="6267450"/>
            <a:ext cx="5284812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accent5"/>
                </a:solidFill>
              </a:rPr>
              <a:t>注：番号①〜④はエグゼクティブサマリの論点と対応。金額はFY2026-2030累計のモデル値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6100" y="6546850"/>
            <a:ext cx="4578972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出所：アルタイル精機 経営企画部の整理（数値はすべて架空のモデル値）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351895" y="6546850"/>
            <a:ext cx="44640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型03</a:t>
            </a:r>
          </a:p>
        </p:txBody>
      </p:sp>
      <p:sp>
        <p:nvSpPr>
          <p:cNvPr id="76" name="Freeform 75"/>
          <p:cNvSpPr/>
          <p:nvPr/>
        </p:nvSpPr>
        <p:spPr>
          <a:xfrm>
            <a:off x="546100" y="4775200"/>
            <a:ext cx="1714500" cy="762000"/>
          </a:xfrm>
          <a:custGeom>
            <a:avLst/>
            <a:gdLst/>
            <a:ahLst/>
            <a:cxnLst/>
            <a:rect l="l" t="t" r="r" b="b"/>
            <a:pathLst>
              <a:path w="135" h="60">
                <a:moveTo>
                  <a:pt x="0" y="0"/>
                </a:moveTo>
                <a:lnTo>
                  <a:pt x="123" y="0"/>
                </a:lnTo>
                <a:lnTo>
                  <a:pt x="135" y="30"/>
                </a:lnTo>
                <a:lnTo>
                  <a:pt x="123" y="60"/>
                </a:lnTo>
                <a:lnTo>
                  <a:pt x="0" y="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4694" y="4991100"/>
            <a:ext cx="1223645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bg1"/>
                </a:solidFill>
              </a:rPr>
              <a:t>経営会議（当日）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5010" y="5213350"/>
            <a:ext cx="126238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bg1"/>
                </a:solidFill>
              </a:rPr>
              <a:t>決定①〜④の承認</a:t>
            </a:r>
          </a:p>
        </p:txBody>
      </p:sp>
      <p:sp>
        <p:nvSpPr>
          <p:cNvPr id="79" name="Freeform 78"/>
          <p:cNvSpPr/>
          <p:nvPr/>
        </p:nvSpPr>
        <p:spPr>
          <a:xfrm>
            <a:off x="2362200" y="4775200"/>
            <a:ext cx="1714500" cy="762000"/>
          </a:xfrm>
          <a:custGeom>
            <a:avLst/>
            <a:gdLst/>
            <a:ahLst/>
            <a:cxnLst/>
            <a:rect l="l" t="t" r="r" b="b"/>
            <a:pathLst>
              <a:path w="135" h="60">
                <a:moveTo>
                  <a:pt x="0" y="0"/>
                </a:moveTo>
                <a:lnTo>
                  <a:pt x="122" y="0"/>
                </a:lnTo>
                <a:lnTo>
                  <a:pt x="135" y="30"/>
                </a:lnTo>
                <a:lnTo>
                  <a:pt x="122" y="60"/>
                </a:lnTo>
                <a:lnTo>
                  <a:pt x="0" y="60"/>
                </a:lnTo>
                <a:lnTo>
                  <a:pt x="12" y="30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04135" y="4991100"/>
            <a:ext cx="12687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tx1"/>
                </a:solidFill>
              </a:rPr>
              <a:t>9月｜投資委員会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41905" y="5213350"/>
            <a:ext cx="139319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</a:rPr>
              <a:t>柱A 個別案件の審議</a:t>
            </a:r>
          </a:p>
        </p:txBody>
      </p:sp>
      <p:sp>
        <p:nvSpPr>
          <p:cNvPr id="82" name="Freeform 81"/>
          <p:cNvSpPr/>
          <p:nvPr/>
        </p:nvSpPr>
        <p:spPr>
          <a:xfrm>
            <a:off x="4165600" y="4775200"/>
            <a:ext cx="1727200" cy="762000"/>
          </a:xfrm>
          <a:custGeom>
            <a:avLst/>
            <a:gdLst/>
            <a:ahLst/>
            <a:cxnLst/>
            <a:rect l="l" t="t" r="r" b="b"/>
            <a:pathLst>
              <a:path w="136" h="60">
                <a:moveTo>
                  <a:pt x="0" y="0"/>
                </a:moveTo>
                <a:lnTo>
                  <a:pt x="122" y="0"/>
                </a:lnTo>
                <a:lnTo>
                  <a:pt x="136" y="30"/>
                </a:lnTo>
                <a:lnTo>
                  <a:pt x="122" y="60"/>
                </a:lnTo>
                <a:lnTo>
                  <a:pt x="0" y="60"/>
                </a:lnTo>
                <a:lnTo>
                  <a:pt x="13" y="30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31665" y="4991100"/>
            <a:ext cx="1233805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tx1"/>
                </a:solidFill>
              </a:rPr>
              <a:t>10月｜経営会議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26255" y="5213350"/>
            <a:ext cx="1443355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</a:rPr>
              <a:t>実行計画の確定・着手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59600" y="1816100"/>
            <a:ext cx="4686300" cy="43307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50100" y="1955800"/>
            <a:ext cx="508000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l"/>
            <a:r>
              <a:rPr sz="900" b="0">
                <a:solidFill>
                  <a:schemeClr val="accent5"/>
                </a:solidFill>
              </a:rPr>
              <a:t>項目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50100" y="2190750"/>
            <a:ext cx="508000" cy="0"/>
          </a:xfrm>
          <a:prstGeom prst="line">
            <a:avLst/>
          </a:prstGeom>
          <a:ln w="6350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658100" y="1955800"/>
            <a:ext cx="1968500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l"/>
            <a:r>
              <a:rPr sz="900" b="0">
                <a:solidFill>
                  <a:schemeClr val="accent5"/>
                </a:solidFill>
              </a:rPr>
              <a:t>削減の方向性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58100" y="2190750"/>
            <a:ext cx="1968500" cy="0"/>
          </a:xfrm>
          <a:prstGeom prst="line">
            <a:avLst/>
          </a:prstGeom>
          <a:ln w="6350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626600" y="1955800"/>
            <a:ext cx="368300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l"/>
            <a:r>
              <a:rPr sz="900" b="0">
                <a:solidFill>
                  <a:schemeClr val="accent5"/>
                </a:solidFill>
              </a:rPr>
              <a:t>現行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26600" y="2190750"/>
            <a:ext cx="368300" cy="0"/>
          </a:xfrm>
          <a:prstGeom prst="line">
            <a:avLst/>
          </a:prstGeom>
          <a:ln w="6350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994900" y="1955800"/>
            <a:ext cx="469900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l"/>
            <a:r>
              <a:rPr sz="900" b="0">
                <a:solidFill>
                  <a:schemeClr val="accent5"/>
                </a:solidFill>
              </a:rPr>
              <a:t>削減後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994900" y="2190750"/>
            <a:ext cx="469900" cy="0"/>
          </a:xfrm>
          <a:prstGeom prst="line">
            <a:avLst/>
          </a:prstGeom>
          <a:ln w="6350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464800" y="1955800"/>
            <a:ext cx="1016000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900" b="0">
                <a:solidFill>
                  <a:schemeClr val="accent5"/>
                </a:solidFill>
              </a:rPr>
              <a:t>削減幅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64800" y="2190750"/>
            <a:ext cx="1016000" cy="0"/>
          </a:xfrm>
          <a:prstGeom prst="line">
            <a:avLst/>
          </a:prstGeom>
          <a:ln w="6350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150100" y="2193925"/>
            <a:ext cx="5080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3500" rIns="63500" tIns="25400" bIns="25400"/>
          <a:lstStyle/>
          <a:p>
            <a:pPr algn="l"/>
            <a:r>
              <a:rPr sz="1100" b="1">
                <a:solidFill>
                  <a:schemeClr val="accent1"/>
                </a:solidFill>
              </a:rPr>
              <a:t>材料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50100" y="2773680"/>
            <a:ext cx="508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62800" y="2193925"/>
            <a:ext cx="0" cy="582930"/>
          </a:xfrm>
          <a:prstGeom prst="line">
            <a:avLst/>
          </a:prstGeom>
          <a:ln w="254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658100" y="2193925"/>
            <a:ext cx="19685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l"/>
            <a:r>
              <a:rPr sz="1100" b="0">
                <a:solidFill>
                  <a:schemeClr val="tx1"/>
                </a:solidFill>
              </a:rPr>
              <a:t>集中購買とVA/VE設計見直し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58100" y="2773680"/>
            <a:ext cx="19685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626600" y="2193925"/>
            <a:ext cx="3683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r"/>
            <a:r>
              <a:rPr sz="1100" b="0">
                <a:solidFill>
                  <a:schemeClr val="tx1"/>
                </a:solidFill>
              </a:rPr>
              <a:t>38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26600" y="2773680"/>
            <a:ext cx="3683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994900" y="2193925"/>
            <a:ext cx="4699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r"/>
            <a:r>
              <a:rPr sz="1100" b="0">
                <a:solidFill>
                  <a:schemeClr val="tx1"/>
                </a:solidFill>
              </a:rPr>
              <a:t>34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994900" y="2773680"/>
            <a:ext cx="4699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464800" y="2193925"/>
            <a:ext cx="10160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0464800" y="2773680"/>
            <a:ext cx="1016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0566400" y="2415540"/>
            <a:ext cx="567690" cy="139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50100" y="2776855"/>
            <a:ext cx="5080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l"/>
            <a:r>
              <a:rPr sz="1100" b="1">
                <a:solidFill>
                  <a:schemeClr val="tx1"/>
                </a:solidFill>
              </a:rPr>
              <a:t>加工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50100" y="3356610"/>
            <a:ext cx="508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658100" y="2776855"/>
            <a:ext cx="19685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l"/>
            <a:r>
              <a:rPr sz="1100" b="0">
                <a:solidFill>
                  <a:schemeClr val="tx1"/>
                </a:solidFill>
              </a:rPr>
              <a:t>段取り替え時間の半減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58100" y="3356610"/>
            <a:ext cx="19685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626600" y="2776855"/>
            <a:ext cx="3683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r"/>
            <a:r>
              <a:rPr sz="1100" b="0">
                <a:solidFill>
                  <a:schemeClr val="tx1"/>
                </a:solidFill>
              </a:rPr>
              <a:t>22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26600" y="3356610"/>
            <a:ext cx="3683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994900" y="2776855"/>
            <a:ext cx="4699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r"/>
            <a:r>
              <a:rPr sz="1100" b="0">
                <a:solidFill>
                  <a:schemeClr val="tx1"/>
                </a:solidFill>
              </a:rPr>
              <a:t>21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94900" y="3356610"/>
            <a:ext cx="4699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464800" y="2776855"/>
            <a:ext cx="10160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0464800" y="3356610"/>
            <a:ext cx="1016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0566400" y="2998470"/>
            <a:ext cx="177800" cy="139700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50100" y="3359785"/>
            <a:ext cx="5080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l"/>
            <a:r>
              <a:rPr sz="1100" b="1">
                <a:solidFill>
                  <a:schemeClr val="tx1"/>
                </a:solidFill>
              </a:rPr>
              <a:t>組立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50100" y="3939540"/>
            <a:ext cx="508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658100" y="3359785"/>
            <a:ext cx="19685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l"/>
            <a:r>
              <a:rPr sz="1100" b="0">
                <a:solidFill>
                  <a:schemeClr val="tx1"/>
                </a:solidFill>
              </a:rPr>
              <a:t>セル生産方式への転換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658100" y="3939540"/>
            <a:ext cx="19685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626600" y="3359785"/>
            <a:ext cx="3683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r"/>
            <a:r>
              <a:rPr sz="1100" b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26600" y="3939540"/>
            <a:ext cx="3683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9994900" y="3359785"/>
            <a:ext cx="4699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r"/>
            <a:r>
              <a:rPr sz="1100" b="0">
                <a:solidFill>
                  <a:schemeClr val="tx1"/>
                </a:solidFill>
              </a:rPr>
              <a:t>11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994900" y="3939540"/>
            <a:ext cx="4699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0464800" y="3359785"/>
            <a:ext cx="10160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464800" y="3939540"/>
            <a:ext cx="1016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0566400" y="3581400"/>
            <a:ext cx="177800" cy="139700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50100" y="3942715"/>
            <a:ext cx="5080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l"/>
            <a:r>
              <a:rPr sz="1100" b="1">
                <a:solidFill>
                  <a:schemeClr val="tx1"/>
                </a:solidFill>
              </a:rPr>
              <a:t>物流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50100" y="4522470"/>
            <a:ext cx="508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658100" y="3942715"/>
            <a:ext cx="19685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l"/>
            <a:r>
              <a:rPr sz="1100" b="0">
                <a:solidFill>
                  <a:schemeClr val="tx1"/>
                </a:solidFill>
              </a:rPr>
              <a:t>出荷3拠点を1拠点へ統合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658100" y="4522470"/>
            <a:ext cx="19685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626600" y="3942715"/>
            <a:ext cx="3683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r"/>
            <a:r>
              <a:rPr sz="1100" b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626600" y="4522470"/>
            <a:ext cx="3683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994900" y="3942715"/>
            <a:ext cx="4699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r"/>
            <a:r>
              <a:rPr sz="1100" b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994900" y="4522470"/>
            <a:ext cx="4699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10464800" y="3942715"/>
            <a:ext cx="10160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64800" y="4522470"/>
            <a:ext cx="1016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0566400" y="4164329"/>
            <a:ext cx="177800" cy="139700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100" y="4525645"/>
            <a:ext cx="5080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3500" rIns="63500" tIns="25400" bIns="25400"/>
          <a:lstStyle/>
          <a:p>
            <a:pPr algn="l"/>
            <a:r>
              <a:rPr sz="1100" b="1">
                <a:solidFill>
                  <a:schemeClr val="accent1"/>
                </a:solidFill>
              </a:rPr>
              <a:t>間接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150100" y="5105400"/>
            <a:ext cx="508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162800" y="4525645"/>
            <a:ext cx="0" cy="582930"/>
          </a:xfrm>
          <a:prstGeom prst="line">
            <a:avLst/>
          </a:prstGeom>
          <a:ln w="254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658100" y="4525645"/>
            <a:ext cx="19685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l"/>
            <a:r>
              <a:rPr sz="1100" b="0">
                <a:solidFill>
                  <a:schemeClr val="tx1"/>
                </a:solidFill>
              </a:rPr>
              <a:t>生産管理業務の自動化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658100" y="5105400"/>
            <a:ext cx="19685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9626600" y="4525645"/>
            <a:ext cx="3683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r"/>
            <a:r>
              <a:rPr sz="1100" b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626600" y="5105400"/>
            <a:ext cx="3683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9994900" y="4525645"/>
            <a:ext cx="4699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r"/>
            <a:r>
              <a:rPr sz="1100" b="0">
                <a:solidFill>
                  <a:schemeClr val="tx1"/>
                </a:solidFill>
              </a:rPr>
              <a:t>17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994900" y="5105400"/>
            <a:ext cx="4699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10464800" y="4525645"/>
            <a:ext cx="1016000" cy="5829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10464800" y="5105400"/>
            <a:ext cx="1016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10566400" y="4747260"/>
            <a:ext cx="533400" cy="139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137400" y="5251450"/>
            <a:ext cx="4330700" cy="742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277100" y="5657850"/>
            <a:ext cx="40513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25400" bIns="25400"/>
          <a:lstStyle/>
          <a:p>
            <a:pPr algn="l"/>
            <a:r>
              <a:rPr sz="1000" b="0">
                <a:solidFill>
                  <a:schemeClr val="bg1"/>
                </a:solidFill>
              </a:rPr>
              <a:t>うち材料と間接費で▲7、削減目標の7割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77100" y="5661025"/>
            <a:ext cx="4051300" cy="0"/>
          </a:xfrm>
          <a:prstGeom prst="line">
            <a:avLst/>
          </a:prstGeom>
          <a:ln w="63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secja"/>
          <p:cNvSpPr txBox="1"/>
          <p:nvPr/>
        </p:nvSpPr>
        <p:spPr>
          <a:xfrm>
            <a:off x="546100" y="438150"/>
            <a:ext cx="1537563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accent1"/>
                </a:solidFill>
              </a:rPr>
              <a:t>滝グラフ×打ち手</a:t>
            </a:r>
          </a:p>
        </p:txBody>
      </p:sp>
      <p:sp>
        <p:nvSpPr>
          <p:cNvPr id="74" name="head"/>
          <p:cNvSpPr txBox="1"/>
          <p:nvPr/>
        </p:nvSpPr>
        <p:spPr>
          <a:xfrm>
            <a:off x="546100" y="831850"/>
            <a:ext cx="13000037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chemeClr val="tx1"/>
                </a:solidFill>
              </a:rPr>
              <a:t>原価の58%を占める材料と間接費に打ち手を絞れば、削減目標の7割が見込める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6100" y="1498600"/>
            <a:ext cx="4783531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製造原価の内訳（FY2025・原価680億円を100とした指数）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59600" y="1498600"/>
            <a:ext cx="3870883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打ち手と削減幅（中計・柱B コスト構造改革、指数）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14000" y="2413000"/>
            <a:ext cx="10160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chemeClr val="tx1"/>
                </a:solidFill>
              </a:rPr>
              <a:t>▲4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07700" y="2995930"/>
            <a:ext cx="10160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▲1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07700" y="3578860"/>
            <a:ext cx="10160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▲1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07700" y="4161790"/>
            <a:ext cx="10160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▲1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63300" y="4744720"/>
            <a:ext cx="10160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▲3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77100" y="5397500"/>
            <a:ext cx="1586268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</a:rPr>
              <a:t>合計 100 → 90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92970" y="5410200"/>
            <a:ext cx="1811807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chemeClr val="bg1"/>
                </a:solidFill>
              </a:rPr>
              <a:t>▲10% ＝ ▲68億円</a:t>
            </a:r>
          </a:p>
        </p:txBody>
      </p:sp>
      <p:sp>
        <p:nvSpPr>
          <p:cNvPr id="84" name="note_text"/>
          <p:cNvSpPr txBox="1"/>
          <p:nvPr/>
        </p:nvSpPr>
        <p:spPr>
          <a:xfrm>
            <a:off x="546100" y="6305550"/>
            <a:ext cx="6096304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accent5"/>
                </a:solidFill>
              </a:rPr>
              <a:t>注：指数はFY2025製造原価680億円を100としたもので、▲10%は中計・柱Bの削減目標▲68億円に相当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6100" y="6546850"/>
            <a:ext cx="4578972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出所：アルタイル精機 経営企画部の整理（数値はすべて架空のモデル値）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351895" y="6546850"/>
            <a:ext cx="44640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型07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6900" y="1854200"/>
            <a:ext cx="6477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accent5"/>
                </a:solidFill>
              </a:rPr>
              <a:t>（指数）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73100" y="5880100"/>
            <a:ext cx="5969000" cy="0"/>
          </a:xfrm>
          <a:prstGeom prst="line">
            <a:avLst/>
          </a:prstGeom>
          <a:ln w="952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800100" y="2171700"/>
            <a:ext cx="762000" cy="3708400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5500" y="2286000"/>
            <a:ext cx="711835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chemeClr val="bg1"/>
                </a:solidFill>
              </a:rPr>
              <a:t>100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790700" y="2171700"/>
            <a:ext cx="762000" cy="14090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901825" y="2787650"/>
            <a:ext cx="5397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</a:rPr>
              <a:t>38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81300" y="3580765"/>
            <a:ext cx="762000" cy="815975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771900" y="4396740"/>
            <a:ext cx="762000" cy="445134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62500" y="4841875"/>
            <a:ext cx="762000" cy="296545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753100" y="5138420"/>
            <a:ext cx="762000" cy="7416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chemeClr val="bg1"/>
                </a:solidFill>
              </a:rPr>
              <a:t>20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562100" y="2171700"/>
            <a:ext cx="228600" cy="0"/>
          </a:xfrm>
          <a:prstGeom prst="line">
            <a:avLst/>
          </a:prstGeom>
          <a:ln w="9525">
            <a:solidFill>
              <a:schemeClr val="accent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552700" y="3580765"/>
            <a:ext cx="228600" cy="0"/>
          </a:xfrm>
          <a:prstGeom prst="line">
            <a:avLst/>
          </a:prstGeom>
          <a:ln w="9525">
            <a:solidFill>
              <a:schemeClr val="accent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543300" y="4396740"/>
            <a:ext cx="228600" cy="0"/>
          </a:xfrm>
          <a:prstGeom prst="line">
            <a:avLst/>
          </a:prstGeom>
          <a:ln w="9525">
            <a:solidFill>
              <a:schemeClr val="accent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533900" y="4841875"/>
            <a:ext cx="228600" cy="0"/>
          </a:xfrm>
          <a:prstGeom prst="line">
            <a:avLst/>
          </a:prstGeom>
          <a:ln w="9525">
            <a:solidFill>
              <a:schemeClr val="accent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524500" y="5138420"/>
            <a:ext cx="228600" cy="0"/>
          </a:xfrm>
          <a:prstGeom prst="line">
            <a:avLst/>
          </a:prstGeom>
          <a:ln w="9525">
            <a:solidFill>
              <a:schemeClr val="accent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79450" y="5975350"/>
            <a:ext cx="10033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accent5"/>
                </a:solidFill>
              </a:rPr>
              <a:t>製造原価計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79600" y="5975350"/>
            <a:ext cx="584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tx1"/>
                </a:solidFill>
              </a:rPr>
              <a:t>材料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870200" y="5975350"/>
            <a:ext cx="584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accent5"/>
                </a:solidFill>
              </a:rPr>
              <a:t>加工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60800" y="5975350"/>
            <a:ext cx="584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accent5"/>
                </a:solidFill>
              </a:rPr>
              <a:t>組立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51400" y="5975350"/>
            <a:ext cx="584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accent5"/>
                </a:solidFill>
              </a:rPr>
              <a:t>物流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842000" y="5975350"/>
            <a:ext cx="584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tx1"/>
                </a:solidFill>
              </a:rPr>
              <a:t>間接</a:t>
            </a:r>
          </a:p>
        </p:txBody>
      </p:sp>
      <p:cxnSp>
        <p:nvCxnSpPr>
          <p:cNvPr id="108" name="Connector 107"/>
          <p:cNvCxnSpPr/>
          <p:nvPr/>
        </p:nvCxnSpPr>
        <p:spPr>
          <a:xfrm flipH="1">
            <a:off x="2552700" y="2565400"/>
            <a:ext cx="914400" cy="0"/>
          </a:xfrm>
          <a:prstGeom prst="line">
            <a:avLst/>
          </a:prstGeom>
          <a:ln w="952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134100" y="2730500"/>
            <a:ext cx="0" cy="2407920"/>
          </a:xfrm>
          <a:prstGeom prst="line">
            <a:avLst/>
          </a:prstGeom>
          <a:ln w="952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3467100" y="2400300"/>
            <a:ext cx="2984500" cy="33020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材料＋間接で58（原価の約6割）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ja"/>
          <p:cNvSpPr txBox="1"/>
          <p:nvPr/>
        </p:nvSpPr>
        <p:spPr>
          <a:xfrm>
            <a:off x="546100" y="438150"/>
            <a:ext cx="1341996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accent1"/>
                </a:solidFill>
              </a:rPr>
              <a:t>ロジックツリー</a:t>
            </a:r>
          </a:p>
        </p:txBody>
      </p:sp>
      <p:sp>
        <p:nvSpPr>
          <p:cNvPr id="3" name="head"/>
          <p:cNvSpPr txBox="1"/>
          <p:nvPr/>
        </p:nvSpPr>
        <p:spPr>
          <a:xfrm>
            <a:off x="546100" y="831850"/>
            <a:ext cx="12901853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chemeClr val="tx1"/>
                </a:solidFill>
              </a:rPr>
              <a:t>利益率改善の過半は販管費側にあるため、1年内に効く3手から着手すべきだ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6100" y="1507490"/>
            <a:ext cx="11922645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営業利益率改善の要因分解と打ち手一覧（FY25→FY28・寄与はpt）</a:t>
            </a:r>
          </a:p>
        </p:txBody>
      </p:sp>
      <p:sp>
        <p:nvSpPr>
          <p:cNvPr id="5" name="note_text"/>
          <p:cNvSpPr txBox="1"/>
          <p:nvPr/>
        </p:nvSpPr>
        <p:spPr>
          <a:xfrm>
            <a:off x="546100" y="6267450"/>
            <a:ext cx="651816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accent5"/>
                </a:solidFill>
              </a:rPr>
              <a:t>注：寄与ptはFY25→FY28の営業利益率改善への貢献。販管費側（販売費+一般管理費）で+2.0ptと過半を占める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6546850"/>
            <a:ext cx="4578972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出所：アルタイル精機 経営企画部の整理（数値はすべて架空のモデル値）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51895" y="6546850"/>
            <a:ext cx="44640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型11</a:t>
            </a:r>
          </a:p>
        </p:txBody>
      </p:sp>
      <p:sp>
        <p:nvSpPr>
          <p:cNvPr id="8" name="Rectangle 7"/>
          <p:cNvSpPr/>
          <p:nvPr/>
        </p:nvSpPr>
        <p:spPr>
          <a:xfrm>
            <a:off x="8483600" y="1723389"/>
            <a:ext cx="1143000" cy="254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bg1"/>
                </a:solidFill>
              </a:rPr>
              <a:t>効果（pt）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9817100" y="1723389"/>
            <a:ext cx="1143000" cy="254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bg1"/>
                </a:solidFill>
              </a:rPr>
              <a:t>実現期間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9700" y="2078989"/>
            <a:ext cx="5765800" cy="444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9700" y="3450590"/>
            <a:ext cx="5765800" cy="444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9700" y="4364990"/>
            <a:ext cx="5765800" cy="444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52600" y="3327400"/>
            <a:ext cx="317500" cy="914400"/>
          </a:xfrm>
          <a:custGeom>
            <a:avLst/>
            <a:gdLst/>
            <a:ahLst/>
            <a:cxnLst/>
            <a:rect l="l" t="t" r="r" b="b"/>
            <a:pathLst>
              <a:path w="25" h="72">
                <a:moveTo>
                  <a:pt x="0" y="72"/>
                </a:moveTo>
                <a:lnTo>
                  <a:pt x="12" y="72"/>
                </a:lnTo>
                <a:lnTo>
                  <a:pt x="12" y="0"/>
                </a:lnTo>
                <a:lnTo>
                  <a:pt x="25" y="0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752600" y="4241800"/>
            <a:ext cx="317500" cy="914400"/>
          </a:xfrm>
          <a:custGeom>
            <a:avLst/>
            <a:gdLst/>
            <a:ahLst/>
            <a:cxnLst/>
            <a:rect l="l" t="t" r="r" b="b"/>
            <a:pathLst>
              <a:path w="25" h="72">
                <a:moveTo>
                  <a:pt x="0" y="0"/>
                </a:moveTo>
                <a:lnTo>
                  <a:pt x="12" y="0"/>
                </a:lnTo>
                <a:lnTo>
                  <a:pt x="12" y="72"/>
                </a:lnTo>
                <a:lnTo>
                  <a:pt x="25" y="72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3276600" y="2527300"/>
            <a:ext cx="317500" cy="800100"/>
          </a:xfrm>
          <a:custGeom>
            <a:avLst/>
            <a:gdLst/>
            <a:ahLst/>
            <a:cxnLst/>
            <a:rect l="l" t="t" r="r" b="b"/>
            <a:pathLst>
              <a:path w="25" h="63">
                <a:moveTo>
                  <a:pt x="0" y="63"/>
                </a:moveTo>
                <a:lnTo>
                  <a:pt x="12" y="63"/>
                </a:lnTo>
                <a:lnTo>
                  <a:pt x="12" y="0"/>
                </a:lnTo>
                <a:lnTo>
                  <a:pt x="25" y="0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3276600" y="3327400"/>
            <a:ext cx="317500" cy="114300"/>
          </a:xfrm>
          <a:custGeom>
            <a:avLst/>
            <a:gdLst/>
            <a:ahLst/>
            <a:cxnLst/>
            <a:rect l="l" t="t" r="r" b="b"/>
            <a:pathLst>
              <a:path w="25" h="9">
                <a:moveTo>
                  <a:pt x="0" y="0"/>
                </a:moveTo>
                <a:lnTo>
                  <a:pt x="12" y="0"/>
                </a:lnTo>
                <a:lnTo>
                  <a:pt x="12" y="9"/>
                </a:lnTo>
                <a:lnTo>
                  <a:pt x="25" y="9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3276600" y="3327400"/>
            <a:ext cx="317500" cy="800100"/>
          </a:xfrm>
          <a:custGeom>
            <a:avLst/>
            <a:gdLst/>
            <a:ahLst/>
            <a:cxnLst/>
            <a:rect l="l" t="t" r="r" b="b"/>
            <a:pathLst>
              <a:path w="25" h="63">
                <a:moveTo>
                  <a:pt x="0" y="0"/>
                </a:moveTo>
                <a:lnTo>
                  <a:pt x="12" y="0"/>
                </a:lnTo>
                <a:lnTo>
                  <a:pt x="12" y="63"/>
                </a:lnTo>
                <a:lnTo>
                  <a:pt x="25" y="63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276600" y="4813300"/>
            <a:ext cx="317500" cy="342900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0" y="27"/>
                </a:moveTo>
                <a:lnTo>
                  <a:pt x="12" y="27"/>
                </a:lnTo>
                <a:lnTo>
                  <a:pt x="12" y="0"/>
                </a:lnTo>
                <a:lnTo>
                  <a:pt x="25" y="0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276600" y="5156200"/>
            <a:ext cx="317500" cy="342900"/>
          </a:xfrm>
          <a:custGeom>
            <a:avLst/>
            <a:gdLst/>
            <a:ahLst/>
            <a:cxnLst/>
            <a:rect l="l" t="t" r="r" b="b"/>
            <a:pathLst>
              <a:path w="25" h="27">
                <a:moveTo>
                  <a:pt x="0" y="0"/>
                </a:moveTo>
                <a:lnTo>
                  <a:pt x="12" y="0"/>
                </a:lnTo>
                <a:lnTo>
                  <a:pt x="12" y="27"/>
                </a:lnTo>
                <a:lnTo>
                  <a:pt x="25" y="27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4927600" y="2298700"/>
            <a:ext cx="317500" cy="228600"/>
          </a:xfrm>
          <a:custGeom>
            <a:avLst/>
            <a:gdLst/>
            <a:ahLst/>
            <a:cxnLst/>
            <a:rect l="l" t="t" r="r" b="b"/>
            <a:pathLst>
              <a:path w="25" h="18">
                <a:moveTo>
                  <a:pt x="0" y="18"/>
                </a:moveTo>
                <a:lnTo>
                  <a:pt x="12" y="18"/>
                </a:lnTo>
                <a:lnTo>
                  <a:pt x="12" y="0"/>
                </a:lnTo>
                <a:lnTo>
                  <a:pt x="25" y="0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4927600" y="2527300"/>
            <a:ext cx="317500" cy="228600"/>
          </a:xfrm>
          <a:custGeom>
            <a:avLst/>
            <a:gdLst/>
            <a:ahLst/>
            <a:cxnLst/>
            <a:rect l="l" t="t" r="r" b="b"/>
            <a:pathLst>
              <a:path w="25" h="18">
                <a:moveTo>
                  <a:pt x="0" y="0"/>
                </a:moveTo>
                <a:lnTo>
                  <a:pt x="12" y="0"/>
                </a:lnTo>
                <a:lnTo>
                  <a:pt x="12" y="18"/>
                </a:lnTo>
                <a:lnTo>
                  <a:pt x="25" y="18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4927600" y="3213100"/>
            <a:ext cx="317500" cy="228600"/>
          </a:xfrm>
          <a:custGeom>
            <a:avLst/>
            <a:gdLst/>
            <a:ahLst/>
            <a:cxnLst/>
            <a:rect l="l" t="t" r="r" b="b"/>
            <a:pathLst>
              <a:path w="25" h="18">
                <a:moveTo>
                  <a:pt x="0" y="18"/>
                </a:moveTo>
                <a:lnTo>
                  <a:pt x="12" y="18"/>
                </a:lnTo>
                <a:lnTo>
                  <a:pt x="12" y="0"/>
                </a:lnTo>
                <a:lnTo>
                  <a:pt x="25" y="0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4927600" y="3441700"/>
            <a:ext cx="317500" cy="228600"/>
          </a:xfrm>
          <a:custGeom>
            <a:avLst/>
            <a:gdLst/>
            <a:ahLst/>
            <a:cxnLst/>
            <a:rect l="l" t="t" r="r" b="b"/>
            <a:pathLst>
              <a:path w="25" h="18">
                <a:moveTo>
                  <a:pt x="0" y="0"/>
                </a:moveTo>
                <a:lnTo>
                  <a:pt x="12" y="0"/>
                </a:lnTo>
                <a:lnTo>
                  <a:pt x="12" y="18"/>
                </a:lnTo>
                <a:lnTo>
                  <a:pt x="25" y="18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927600" y="4127500"/>
            <a:ext cx="317500" cy="0"/>
          </a:xfrm>
          <a:custGeom>
            <a:avLst/>
            <a:gdLst/>
            <a:ahLst/>
            <a:cxnLst/>
            <a:rect l="l" t="t" r="r" b="b"/>
            <a:pathLst>
              <a:path w="25" h="0">
                <a:moveTo>
                  <a:pt x="0" y="0"/>
                </a:moveTo>
                <a:lnTo>
                  <a:pt x="12" y="0"/>
                </a:lnTo>
                <a:lnTo>
                  <a:pt x="12" y="0"/>
                </a:lnTo>
                <a:lnTo>
                  <a:pt x="25" y="0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927600" y="4584700"/>
            <a:ext cx="317500" cy="228600"/>
          </a:xfrm>
          <a:custGeom>
            <a:avLst/>
            <a:gdLst/>
            <a:ahLst/>
            <a:cxnLst/>
            <a:rect l="l" t="t" r="r" b="b"/>
            <a:pathLst>
              <a:path w="25" h="18">
                <a:moveTo>
                  <a:pt x="0" y="18"/>
                </a:moveTo>
                <a:lnTo>
                  <a:pt x="12" y="18"/>
                </a:lnTo>
                <a:lnTo>
                  <a:pt x="12" y="0"/>
                </a:lnTo>
                <a:lnTo>
                  <a:pt x="25" y="0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927600" y="4813300"/>
            <a:ext cx="317500" cy="228600"/>
          </a:xfrm>
          <a:custGeom>
            <a:avLst/>
            <a:gdLst/>
            <a:ahLst/>
            <a:cxnLst/>
            <a:rect l="l" t="t" r="r" b="b"/>
            <a:pathLst>
              <a:path w="25" h="18">
                <a:moveTo>
                  <a:pt x="0" y="0"/>
                </a:moveTo>
                <a:lnTo>
                  <a:pt x="12" y="0"/>
                </a:lnTo>
                <a:lnTo>
                  <a:pt x="12" y="18"/>
                </a:lnTo>
                <a:lnTo>
                  <a:pt x="25" y="18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927600" y="5499100"/>
            <a:ext cx="317500" cy="0"/>
          </a:xfrm>
          <a:custGeom>
            <a:avLst/>
            <a:gdLst/>
            <a:ahLst/>
            <a:cxnLst/>
            <a:rect l="l" t="t" r="r" b="b"/>
            <a:pathLst>
              <a:path w="25" h="0">
                <a:moveTo>
                  <a:pt x="0" y="0"/>
                </a:moveTo>
                <a:lnTo>
                  <a:pt x="12" y="0"/>
                </a:lnTo>
                <a:lnTo>
                  <a:pt x="12" y="0"/>
                </a:lnTo>
                <a:lnTo>
                  <a:pt x="25" y="0"/>
                </a:lnTo>
              </a:path>
            </a:pathLst>
          </a:cu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6100" y="3863340"/>
            <a:ext cx="1206500" cy="76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bg1"/>
                </a:solidFill>
              </a:rPr>
              <a:t>営業利益率</a:t>
            </a:r>
          </a:p>
          <a:p>
            <a:pPr algn="ctr"/>
            <a:r>
              <a:rPr sz="1800" b="1">
                <a:solidFill>
                  <a:schemeClr val="bg1"/>
                </a:solidFill>
              </a:rPr>
              <a:t>+3.8pt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438" y="4422140"/>
            <a:ext cx="1785823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bg1"/>
                </a:solidFill>
              </a:rPr>
              <a:t>FY25 6.2%→FY28 10.0%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70100" y="3101340"/>
            <a:ext cx="1206500" cy="45720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tx1"/>
                </a:solidFill>
              </a:rPr>
              <a:t>売上総利益率の改善</a:t>
            </a:r>
          </a:p>
          <a:p>
            <a:pPr algn="ctr"/>
            <a:r>
              <a:rPr sz="1100" b="1">
                <a:solidFill>
                  <a:schemeClr val="accent1"/>
                </a:solidFill>
              </a:rPr>
              <a:t>+1.8pt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70100" y="4930140"/>
            <a:ext cx="1206500" cy="45720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tx1"/>
                </a:solidFill>
              </a:rPr>
              <a:t>販管費率の低減</a:t>
            </a:r>
          </a:p>
          <a:p>
            <a:pPr algn="ctr"/>
            <a:r>
              <a:rPr sz="1100" b="1">
                <a:solidFill>
                  <a:schemeClr val="accent1"/>
                </a:solidFill>
              </a:rPr>
              <a:t>+2.0pt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94100" y="2352040"/>
            <a:ext cx="1333500" cy="3556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tx1"/>
                </a:solidFill>
              </a:rPr>
              <a:t>単価・ミックスの改善</a:t>
            </a:r>
          </a:p>
          <a:p>
            <a:pPr algn="ctr"/>
            <a:r>
              <a:rPr sz="1000" b="1">
                <a:solidFill>
                  <a:schemeClr val="accent1"/>
                </a:solidFill>
              </a:rPr>
              <a:t>+0.7pt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94100" y="3266440"/>
            <a:ext cx="1333500" cy="3556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tx1"/>
                </a:solidFill>
              </a:rPr>
              <a:t>材料費の低減</a:t>
            </a:r>
          </a:p>
          <a:p>
            <a:pPr algn="ctr"/>
            <a:r>
              <a:rPr sz="1000" b="1">
                <a:solidFill>
                  <a:schemeClr val="accent1"/>
                </a:solidFill>
              </a:rPr>
              <a:t>+0.8pt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94100" y="3952240"/>
            <a:ext cx="1333500" cy="3556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tx1"/>
                </a:solidFill>
              </a:rPr>
              <a:t>製造間接費の低減</a:t>
            </a:r>
          </a:p>
          <a:p>
            <a:pPr algn="ctr"/>
            <a:r>
              <a:rPr sz="1000" b="1">
                <a:solidFill>
                  <a:schemeClr val="accent1"/>
                </a:solidFill>
              </a:rPr>
              <a:t>+0.3pt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94100" y="4638040"/>
            <a:ext cx="1333500" cy="3556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tx1"/>
                </a:solidFill>
              </a:rPr>
              <a:t>販売費の低減</a:t>
            </a:r>
          </a:p>
          <a:p>
            <a:pPr algn="ctr"/>
            <a:r>
              <a:rPr sz="1000" b="1">
                <a:solidFill>
                  <a:schemeClr val="accent1"/>
                </a:solidFill>
              </a:rPr>
              <a:t>+1.2pt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94100" y="5323840"/>
            <a:ext cx="1333500" cy="3556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tx1"/>
                </a:solidFill>
              </a:rPr>
              <a:t>一般管理費の低減</a:t>
            </a:r>
          </a:p>
          <a:p>
            <a:pPr algn="ctr"/>
            <a:r>
              <a:rPr sz="1000" b="1">
                <a:solidFill>
                  <a:schemeClr val="accent1"/>
                </a:solidFill>
              </a:rPr>
              <a:t>+0.8pt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45100" y="2104390"/>
            <a:ext cx="2921000" cy="393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0" bIns="0"/>
          <a:lstStyle/>
          <a:p>
            <a:pPr algn="l"/>
            <a:r>
              <a:rPr sz="1100" b="0">
                <a:solidFill>
                  <a:schemeClr val="tx1"/>
                </a:solidFill>
              </a:rPr>
              <a:t>値引き運用の標準価格化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45100" y="2561590"/>
            <a:ext cx="2921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0" bIns="0"/>
          <a:lstStyle/>
          <a:p>
            <a:pPr algn="l"/>
            <a:r>
              <a:rPr sz="1100" b="0">
                <a:solidFill>
                  <a:schemeClr val="tx1"/>
                </a:solidFill>
              </a:rPr>
              <a:t>車載・医療へのミックスシフト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45100" y="3018790"/>
            <a:ext cx="2921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0" bIns="0"/>
          <a:lstStyle/>
          <a:p>
            <a:pPr algn="l"/>
            <a:r>
              <a:rPr sz="1100" b="0">
                <a:solidFill>
                  <a:schemeClr val="tx1"/>
                </a:solidFill>
              </a:rPr>
              <a:t>型番統廃合（1,200→700）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45100" y="3475990"/>
            <a:ext cx="2921000" cy="393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0" bIns="0"/>
          <a:lstStyle/>
          <a:p>
            <a:pPr algn="l"/>
            <a:r>
              <a:rPr sz="1100" b="0">
                <a:solidFill>
                  <a:schemeClr val="tx1"/>
                </a:solidFill>
              </a:rPr>
              <a:t>集中購買・部材の共通化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45100" y="3933190"/>
            <a:ext cx="2921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0" bIns="0"/>
          <a:lstStyle/>
          <a:p>
            <a:pPr algn="l"/>
            <a:r>
              <a:rPr sz="1100" b="0">
                <a:solidFill>
                  <a:schemeClr val="tx1"/>
                </a:solidFill>
              </a:rPr>
              <a:t>工程自動化・多能工化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45100" y="4390390"/>
            <a:ext cx="2921000" cy="393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0" bIns="0"/>
          <a:lstStyle/>
          <a:p>
            <a:pPr algn="l"/>
            <a:r>
              <a:rPr sz="1100" b="0">
                <a:solidFill>
                  <a:schemeClr val="tx1"/>
                </a:solidFill>
              </a:rPr>
              <a:t>代理店手数料体系の再設計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45100" y="4847590"/>
            <a:ext cx="2921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0" bIns="0"/>
          <a:lstStyle/>
          <a:p>
            <a:pPr algn="l"/>
            <a:r>
              <a:rPr sz="1100" b="0">
                <a:solidFill>
                  <a:schemeClr val="tx1"/>
                </a:solidFill>
              </a:rPr>
              <a:t>営業活動のCareシフト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45100" y="5304790"/>
            <a:ext cx="2921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0" bIns="0"/>
          <a:lstStyle/>
          <a:p>
            <a:pPr algn="l"/>
            <a:r>
              <a:rPr sz="1100" b="0">
                <a:solidFill>
                  <a:schemeClr val="tx1"/>
                </a:solidFill>
              </a:rPr>
              <a:t>階層削減（7→5）・間接再配置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83600" y="2104390"/>
            <a:ext cx="1143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accent1"/>
                </a:solidFill>
              </a:rPr>
              <a:t>+0.3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83600" y="2561590"/>
            <a:ext cx="1143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accent1"/>
                </a:solidFill>
              </a:rPr>
              <a:t>+0.4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83600" y="3018790"/>
            <a:ext cx="1143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accent1"/>
                </a:solidFill>
              </a:rPr>
              <a:t>+0.5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83600" y="3475990"/>
            <a:ext cx="1143000" cy="8509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accent1"/>
                </a:solidFill>
              </a:rPr>
              <a:t>+0.3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83600" y="4390390"/>
            <a:ext cx="1143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accent1"/>
                </a:solidFill>
              </a:rPr>
              <a:t>+0.7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83600" y="4847590"/>
            <a:ext cx="1143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accent1"/>
                </a:solidFill>
              </a:rPr>
              <a:t>+0.5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83600" y="5304790"/>
            <a:ext cx="1143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accent1"/>
                </a:solidFill>
              </a:rPr>
              <a:t>+0.8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17100" y="2104390"/>
            <a:ext cx="1143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accent1"/>
                </a:solidFill>
              </a:rPr>
              <a:t>〜1年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17100" y="2561590"/>
            <a:ext cx="1143000" cy="8509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>
                <a:solidFill>
                  <a:schemeClr val="tx1"/>
                </a:solidFill>
              </a:rPr>
              <a:t>1〜3年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17100" y="3475990"/>
            <a:ext cx="1143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accent1"/>
                </a:solidFill>
              </a:rPr>
              <a:t>〜1年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17100" y="3933190"/>
            <a:ext cx="1143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>
                <a:solidFill>
                  <a:schemeClr val="tx1"/>
                </a:solidFill>
              </a:rPr>
              <a:t>1〜3年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17100" y="4390390"/>
            <a:ext cx="1143000" cy="3937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accent1"/>
                </a:solidFill>
              </a:rPr>
              <a:t>〜1年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17100" y="4847590"/>
            <a:ext cx="1143000" cy="8509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>
                <a:solidFill>
                  <a:schemeClr val="tx1"/>
                </a:solidFill>
              </a:rPr>
              <a:t>1〜3年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245100" y="5800090"/>
            <a:ext cx="5715000" cy="0"/>
          </a:xfrm>
          <a:prstGeom prst="line">
            <a:avLst/>
          </a:prstGeom>
          <a:ln w="952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245100" y="5863590"/>
            <a:ext cx="2794000" cy="254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46700" y="5920740"/>
            <a:ext cx="399729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chemeClr val="tx1"/>
                </a:solidFill>
              </a:rPr>
              <a:t>〜1年で効く3手（値引き標準化・集中購買・代理店手数料）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83600" y="5863590"/>
            <a:ext cx="1143000" cy="254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accent1"/>
                </a:solidFill>
              </a:rPr>
              <a:t>+1.3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17100" y="5863590"/>
            <a:ext cx="1143000" cy="254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>
                <a:solidFill>
                  <a:schemeClr val="tx1"/>
                </a:solidFill>
              </a:rPr>
              <a:t>残り5手 +2.5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ja"/>
          <p:cNvSpPr txBox="1"/>
          <p:nvPr/>
        </p:nvSpPr>
        <p:spPr>
          <a:xfrm>
            <a:off x="546100" y="438150"/>
            <a:ext cx="685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accent1"/>
                </a:solidFill>
              </a:rPr>
              <a:t>軸統一</a:t>
            </a:r>
          </a:p>
        </p:txBody>
      </p:sp>
      <p:sp>
        <p:nvSpPr>
          <p:cNvPr id="3" name="head"/>
          <p:cNvSpPr txBox="1"/>
          <p:nvPr/>
        </p:nvSpPr>
        <p:spPr>
          <a:xfrm>
            <a:off x="546100" y="831850"/>
            <a:ext cx="12930886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chemeClr val="tx1"/>
                </a:solidFill>
              </a:rPr>
              <a:t>伸び率は欧州が首位だが増分は北米が3倍あり、増強はまず北米に張るべきだ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6100" y="1507490"/>
            <a:ext cx="11989396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地域別売上の推移（FY21→FY25、億円、4パネルの縦軸は0–600で統一）</a:t>
            </a:r>
          </a:p>
        </p:txBody>
      </p:sp>
      <p:sp>
        <p:nvSpPr>
          <p:cNvPr id="5" name="note_text"/>
          <p:cNvSpPr txBox="1"/>
          <p:nvPr/>
        </p:nvSpPr>
        <p:spPr>
          <a:xfrm>
            <a:off x="546100" y="6267450"/>
            <a:ext cx="8320227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accent5"/>
                </a:solidFill>
              </a:rPr>
              <a:t>注：伸び率＝FY21→25の増加率。増分の実数は北米+90、中国・アジア+60、欧州+30、日本+10億円。地域増強の順は北米→中国・アジア→欧州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6546850"/>
            <a:ext cx="4578972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出所：アルタイル精機 経営企画部の整理（数値はすべて架空のモデル値）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51260" y="6546850"/>
            <a:ext cx="44704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型14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817370"/>
            <a:ext cx="64516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accent5"/>
                </a:solidFill>
              </a:rPr>
              <a:t>（億円）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1100" y="2282190"/>
            <a:ext cx="10414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1100" y="3120390"/>
            <a:ext cx="10414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1100" y="3958590"/>
            <a:ext cx="10414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1100" y="4796790"/>
            <a:ext cx="10414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1100" y="5634990"/>
            <a:ext cx="10414000" cy="0"/>
          </a:xfrm>
          <a:prstGeom prst="line">
            <a:avLst/>
          </a:prstGeom>
          <a:ln w="952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0075" y="2229485"/>
            <a:ext cx="53022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chemeClr val="accent5"/>
                </a:solidFill>
              </a:rPr>
              <a:t>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440" y="3067685"/>
            <a:ext cx="53086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chemeClr val="accent5"/>
                </a:solidFill>
              </a:rPr>
              <a:t>450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75" y="3905885"/>
            <a:ext cx="53022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chemeClr val="accent5"/>
                </a:solidFill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075" y="4744085"/>
            <a:ext cx="53022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chemeClr val="accent5"/>
                </a:solidFill>
              </a:rPr>
              <a:t>150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570" y="5577840"/>
            <a:ext cx="37973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chemeClr val="accent5"/>
                </a:solidFill>
              </a:rP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35400" y="2058670"/>
            <a:ext cx="0" cy="3576320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19850" y="2058670"/>
            <a:ext cx="0" cy="3576320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10650" y="2058670"/>
            <a:ext cx="0" cy="3576320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28850" y="1842770"/>
            <a:ext cx="622935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chemeClr val="tx1"/>
                </a:solidFill>
              </a:rPr>
              <a:t>日本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020" y="2091689"/>
            <a:ext cx="1203325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tx1"/>
                </a:solidFill>
              </a:rPr>
              <a:t>増分 +10億円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7075" y="2286000"/>
            <a:ext cx="108585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accent5"/>
                </a:solidFill>
              </a:rPr>
              <a:t>（伸び率 +2%）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89100" y="2561590"/>
            <a:ext cx="457200" cy="2794000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2526665"/>
            <a:ext cx="457200" cy="2825750"/>
          </a:xfrm>
          <a:prstGeom prst="rect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33700" y="2505710"/>
            <a:ext cx="457200" cy="284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0205" y="2642870"/>
            <a:ext cx="55499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</a:rPr>
              <a:t>550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2505" y="2607945"/>
            <a:ext cx="55499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</a:rPr>
              <a:t>556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67660" y="2586990"/>
            <a:ext cx="589915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bg1"/>
                </a:solidFill>
              </a:rPr>
              <a:t>560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689100" y="2561590"/>
            <a:ext cx="1790700" cy="0"/>
          </a:xfrm>
          <a:prstGeom prst="line">
            <a:avLst/>
          </a:prstGeom>
          <a:ln w="6350">
            <a:solidFill>
              <a:schemeClr val="accent5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454400" y="2505710"/>
            <a:ext cx="0" cy="55880"/>
          </a:xfrm>
          <a:prstGeom prst="line">
            <a:avLst/>
          </a:prstGeom>
          <a:ln w="158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616710" y="5711190"/>
            <a:ext cx="60261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FY21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9010" y="5711190"/>
            <a:ext cx="60261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FY23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1310" y="5711190"/>
            <a:ext cx="60261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FY25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6950" y="1842770"/>
            <a:ext cx="6350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chemeClr val="tx1"/>
                </a:solidFill>
              </a:rPr>
              <a:t>北米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2470" y="2091689"/>
            <a:ext cx="1203325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accent1"/>
                </a:solidFill>
              </a:rPr>
              <a:t>増分 +90億円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1520" y="2286000"/>
            <a:ext cx="1165225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accent5"/>
                </a:solidFill>
              </a:rPr>
              <a:t>（伸び率 +43%）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73550" y="4461509"/>
            <a:ext cx="457200" cy="1066800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95850" y="4251959"/>
            <a:ext cx="457200" cy="1257300"/>
          </a:xfrm>
          <a:prstGeom prst="rect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18150" y="3958590"/>
            <a:ext cx="457200" cy="1524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24655" y="4291330"/>
            <a:ext cx="55499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955" y="4081779"/>
            <a:ext cx="55562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</a:rPr>
              <a:t>248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52110" y="3788410"/>
            <a:ext cx="589915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tx1"/>
                </a:solidFill>
              </a:rPr>
              <a:t>300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273550" y="4461509"/>
            <a:ext cx="1790700" cy="0"/>
          </a:xfrm>
          <a:prstGeom prst="line">
            <a:avLst/>
          </a:prstGeom>
          <a:ln w="6350">
            <a:solidFill>
              <a:schemeClr val="accent5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038850" y="3958590"/>
            <a:ext cx="0" cy="502919"/>
          </a:xfrm>
          <a:prstGeom prst="line">
            <a:avLst/>
          </a:prstGeom>
          <a:ln w="158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000750" y="3958590"/>
            <a:ext cx="76200" cy="0"/>
          </a:xfrm>
          <a:prstGeom prst="line">
            <a:avLst/>
          </a:prstGeom>
          <a:ln w="158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201160" y="5711190"/>
            <a:ext cx="60261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FY21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23460" y="5711190"/>
            <a:ext cx="60261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FY23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5760" y="5711190"/>
            <a:ext cx="60261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FY25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26605" y="1842770"/>
            <a:ext cx="1177925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chemeClr val="tx1"/>
                </a:solidFill>
              </a:rPr>
              <a:t>中国・アジア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13270" y="2091689"/>
            <a:ext cx="1203325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tx1"/>
                </a:solidFill>
              </a:rPr>
              <a:t>増分 +60億円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955" y="2286000"/>
            <a:ext cx="1165225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accent5"/>
                </a:solidFill>
              </a:rPr>
              <a:t>（伸び率 +35%）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64350" y="4685030"/>
            <a:ext cx="457200" cy="863600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86650" y="4538345"/>
            <a:ext cx="457200" cy="996950"/>
          </a:xfrm>
          <a:prstGeom prst="rect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08950" y="4349750"/>
            <a:ext cx="457200" cy="1168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15455" y="4514850"/>
            <a:ext cx="55499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</a:rPr>
              <a:t>170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37755" y="4368165"/>
            <a:ext cx="55499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</a:rPr>
              <a:t>196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2909" y="4179570"/>
            <a:ext cx="589915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tx1"/>
                </a:solidFill>
              </a:rPr>
              <a:t>230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64350" y="4685030"/>
            <a:ext cx="1790700" cy="0"/>
          </a:xfrm>
          <a:prstGeom prst="line">
            <a:avLst/>
          </a:prstGeom>
          <a:ln w="6350">
            <a:solidFill>
              <a:schemeClr val="accent5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629650" y="4349750"/>
            <a:ext cx="0" cy="335280"/>
          </a:xfrm>
          <a:prstGeom prst="line">
            <a:avLst/>
          </a:prstGeom>
          <a:ln w="158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591550" y="4349750"/>
            <a:ext cx="76200" cy="0"/>
          </a:xfrm>
          <a:prstGeom prst="line">
            <a:avLst/>
          </a:prstGeom>
          <a:ln w="158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791959" y="5711190"/>
            <a:ext cx="60261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FY21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14259" y="5711190"/>
            <a:ext cx="60261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FY23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36559" y="5711190"/>
            <a:ext cx="60261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FY25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82200" y="1842770"/>
            <a:ext cx="6350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chemeClr val="tx1"/>
                </a:solidFill>
              </a:rPr>
              <a:t>欧州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7720" y="2091689"/>
            <a:ext cx="1203325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accent1"/>
                </a:solidFill>
              </a:rPr>
              <a:t>増分 +30億円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61170" y="2286000"/>
            <a:ext cx="207705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accent5"/>
                </a:solidFill>
              </a:rPr>
              <a:t>（伸び率 +50%＝4地域で最大）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37700" y="2757170"/>
            <a:ext cx="1524000" cy="27940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tx1"/>
                </a:solidFill>
              </a:rPr>
              <a:t>増分は北米の1/3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448800" y="5299710"/>
            <a:ext cx="457200" cy="304800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71100" y="5229860"/>
            <a:ext cx="457200" cy="368300"/>
          </a:xfrm>
          <a:prstGeom prst="rect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693400" y="5132070"/>
            <a:ext cx="4572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41815" y="5129530"/>
            <a:ext cx="47180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</a:rPr>
              <a:t>60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64115" y="5059680"/>
            <a:ext cx="47180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</a:rPr>
              <a:t>72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74350" y="4961890"/>
            <a:ext cx="494665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tx1"/>
                </a:solidFill>
              </a:rPr>
              <a:t>90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9448800" y="5299710"/>
            <a:ext cx="1790700" cy="0"/>
          </a:xfrm>
          <a:prstGeom prst="line">
            <a:avLst/>
          </a:prstGeom>
          <a:ln w="6350">
            <a:solidFill>
              <a:schemeClr val="accent5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214100" y="5132070"/>
            <a:ext cx="0" cy="167640"/>
          </a:xfrm>
          <a:prstGeom prst="line">
            <a:avLst/>
          </a:prstGeom>
          <a:ln w="158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176000" y="5132070"/>
            <a:ext cx="76200" cy="0"/>
          </a:xfrm>
          <a:prstGeom prst="line">
            <a:avLst/>
          </a:prstGeom>
          <a:ln w="158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9376410" y="5711190"/>
            <a:ext cx="60261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FY21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98710" y="5711190"/>
            <a:ext cx="60261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FY23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21010" y="5711190"/>
            <a:ext cx="60261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FY25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ja"/>
          <p:cNvSpPr txBox="1"/>
          <p:nvPr/>
        </p:nvSpPr>
        <p:spPr>
          <a:xfrm>
            <a:off x="546100" y="438150"/>
            <a:ext cx="189572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accent1"/>
                </a:solidFill>
              </a:rPr>
              <a:t>破線Before/After</a:t>
            </a:r>
          </a:p>
        </p:txBody>
      </p:sp>
      <p:sp>
        <p:nvSpPr>
          <p:cNvPr id="3" name="head"/>
          <p:cNvSpPr txBox="1"/>
          <p:nvPr/>
        </p:nvSpPr>
        <p:spPr>
          <a:xfrm>
            <a:off x="546100" y="831850"/>
            <a:ext cx="1280607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chemeClr val="tx1"/>
                </a:solidFill>
              </a:rPr>
              <a:t>止める3工程は標準仕様と価格表で代替できるため、見積は6工程に縮む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6100" y="1507490"/>
            <a:ext cx="11938762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見積プロセスの工程と所要日数（現行FY25実績→FY27計画・営業日）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6546850"/>
            <a:ext cx="4578972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出所：アルタイル精機 経営企画部の整理（数値はすべて架空のモデル値）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1895" y="6546850"/>
            <a:ext cx="44640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型20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913889"/>
            <a:ext cx="101600" cy="1016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" y="1875789"/>
            <a:ext cx="2061057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現行｜9工程・LT 14.0日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6110" y="1945639"/>
            <a:ext cx="77978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chemeClr val="accent1"/>
                </a:solidFill>
              </a:rPr>
              <a:t>▼ 止める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4510" y="1945639"/>
            <a:ext cx="77978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chemeClr val="accent1"/>
                </a:solidFill>
              </a:rPr>
              <a:t>▼ 止める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2110" y="1945639"/>
            <a:ext cx="77978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chemeClr val="accent1"/>
                </a:solidFill>
              </a:rPr>
              <a:t>▼ 止める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2104390"/>
            <a:ext cx="1143000" cy="60960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引合受付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0.5日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65300" y="2104390"/>
            <a:ext cx="1143000" cy="60960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仕様確認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2.0日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84500" y="2104390"/>
            <a:ext cx="1143000" cy="60960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技術検討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3.0日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104390"/>
            <a:ext cx="1143000" cy="60960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原価積算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2.0日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22900" y="2104390"/>
            <a:ext cx="1143000" cy="60960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値引き稟議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2.5日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42100" y="2104390"/>
            <a:ext cx="1143000" cy="60960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見積書作成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1.0日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1300" y="2104390"/>
            <a:ext cx="1143000" cy="60960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課長承認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1.0日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0500" y="2104390"/>
            <a:ext cx="1143000" cy="60960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役員承認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1.5日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99700" y="2104390"/>
            <a:ext cx="1143000" cy="60960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顧客提出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0.5日</a:t>
            </a:r>
          </a:p>
        </p:txBody>
      </p:sp>
      <p:sp>
        <p:nvSpPr>
          <p:cNvPr id="21" name="Freeform 20"/>
          <p:cNvSpPr/>
          <p:nvPr/>
        </p:nvSpPr>
        <p:spPr>
          <a:xfrm>
            <a:off x="1701800" y="23749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921000" y="23749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4140200" y="23749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5359400" y="23749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6578600" y="23749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7797800" y="23749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017000" y="23749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0236200" y="23749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838700" y="2971800"/>
            <a:ext cx="304800" cy="254000"/>
          </a:xfrm>
          <a:custGeom>
            <a:avLst/>
            <a:gdLst/>
            <a:ahLst/>
            <a:cxnLst/>
            <a:rect l="l" t="t" r="r" b="b"/>
            <a:pathLst>
              <a:path w="24" h="20">
                <a:moveTo>
                  <a:pt x="6" y="0"/>
                </a:moveTo>
                <a:lnTo>
                  <a:pt x="18" y="0"/>
                </a:lnTo>
                <a:lnTo>
                  <a:pt x="18" y="10"/>
                </a:lnTo>
                <a:lnTo>
                  <a:pt x="24" y="10"/>
                </a:lnTo>
                <a:lnTo>
                  <a:pt x="12" y="20"/>
                </a:lnTo>
                <a:lnTo>
                  <a:pt x="0" y="10"/>
                </a:lnTo>
                <a:lnTo>
                  <a:pt x="6" y="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70500" y="3031490"/>
            <a:ext cx="2138667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</a:rPr>
              <a:t>3工程を止め、2工程を圧縮する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6100" y="3488690"/>
            <a:ext cx="101600" cy="101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200" y="3450590"/>
            <a:ext cx="2116264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改革後｜6工程・LT 6.0日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6100" y="3679190"/>
            <a:ext cx="1143000" cy="60960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引合受付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0.5日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65300" y="3679190"/>
            <a:ext cx="1143000" cy="60960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仕様確認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2.0日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3700" y="3679190"/>
            <a:ext cx="1143000" cy="60960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原価積算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1.5日</a:t>
            </a:r>
            <a:r>
              <a:rPr sz="900" b="1">
                <a:solidFill>
                  <a:schemeClr val="accent1"/>
                </a:solidFill>
              </a:rPr>
              <a:t>（▲0.5）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42100" y="3679190"/>
            <a:ext cx="1143000" cy="60960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見積書作成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1.0日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1300" y="3679190"/>
            <a:ext cx="1143000" cy="60960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課長承認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0.5日</a:t>
            </a:r>
            <a:r>
              <a:rPr sz="900" b="1">
                <a:solidFill>
                  <a:schemeClr val="accent1"/>
                </a:solidFill>
              </a:rPr>
              <a:t>（▲0.5）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99700" y="3679190"/>
            <a:ext cx="1143000" cy="60960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顧客提出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0.5日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84500" y="3679190"/>
            <a:ext cx="1143000" cy="609600"/>
          </a:xfrm>
          <a:prstGeom prst="rect">
            <a:avLst/>
          </a:prstGeom>
          <a:noFill/>
          <a:ln w="11430">
            <a:solidFill>
              <a:schemeClr val="accent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>
                <a:solidFill>
                  <a:schemeClr val="accent5"/>
                </a:solidFill>
              </a:rPr>
              <a:t>技術検討</a:t>
            </a:r>
          </a:p>
          <a:p>
            <a:pPr algn="ctr"/>
            <a:r>
              <a:rPr sz="1000" b="1">
                <a:solidFill>
                  <a:schemeClr val="accent1"/>
                </a:solidFill>
              </a:rPr>
              <a:t>廃止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22900" y="3679190"/>
            <a:ext cx="1143000" cy="609600"/>
          </a:xfrm>
          <a:prstGeom prst="rect">
            <a:avLst/>
          </a:prstGeom>
          <a:noFill/>
          <a:ln w="11430">
            <a:solidFill>
              <a:schemeClr val="accent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>
                <a:solidFill>
                  <a:schemeClr val="accent5"/>
                </a:solidFill>
              </a:rPr>
              <a:t>値引き稟議</a:t>
            </a:r>
          </a:p>
          <a:p>
            <a:pPr algn="ctr"/>
            <a:r>
              <a:rPr sz="1000" b="1">
                <a:solidFill>
                  <a:schemeClr val="accent1"/>
                </a:solidFill>
              </a:rPr>
              <a:t>廃止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80500" y="3679190"/>
            <a:ext cx="1143000" cy="609600"/>
          </a:xfrm>
          <a:prstGeom prst="rect">
            <a:avLst/>
          </a:prstGeom>
          <a:noFill/>
          <a:ln w="11430">
            <a:solidFill>
              <a:schemeClr val="accent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>
                <a:solidFill>
                  <a:schemeClr val="accent5"/>
                </a:solidFill>
              </a:rPr>
              <a:t>役員承認</a:t>
            </a:r>
          </a:p>
          <a:p>
            <a:pPr algn="ctr"/>
            <a:r>
              <a:rPr sz="1000" b="1">
                <a:solidFill>
                  <a:schemeClr val="accent1"/>
                </a:solidFill>
              </a:rPr>
              <a:t>廃止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3540" y="4364990"/>
            <a:ext cx="126428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標準仕様DBで代替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89245" y="4364990"/>
            <a:ext cx="121094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標準価格表で代替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89695" y="4364990"/>
            <a:ext cx="132524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権限規程改定で代替</a:t>
            </a:r>
          </a:p>
        </p:txBody>
      </p:sp>
      <p:sp>
        <p:nvSpPr>
          <p:cNvPr id="45" name="Freeform 44"/>
          <p:cNvSpPr/>
          <p:nvPr/>
        </p:nvSpPr>
        <p:spPr>
          <a:xfrm>
            <a:off x="1701800" y="39497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921000" y="39497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4140200" y="39497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5359400" y="39497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6578600" y="39497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797800" y="39497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017000" y="39497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0236200" y="39497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5" y="3"/>
                </a:lnTo>
                <a:lnTo>
                  <a:pt x="0" y="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100" y="4885690"/>
            <a:ext cx="180582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chemeClr val="tx1"/>
                </a:solidFill>
              </a:rPr>
              <a:t>見積リードタイム（営業日）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6100" y="5120640"/>
            <a:ext cx="584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accent5"/>
                </a:solidFill>
              </a:rPr>
              <a:t>現行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0" y="5063490"/>
            <a:ext cx="8890000" cy="266700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56850" y="5126990"/>
            <a:ext cx="770255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14.0日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6100" y="5781040"/>
            <a:ext cx="7239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accent5"/>
                </a:solidFill>
              </a:rPr>
              <a:t>改革後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0" y="5723890"/>
            <a:ext cx="3810000" cy="26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76850" y="5787390"/>
            <a:ext cx="6705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accent1"/>
                </a:solidFill>
              </a:rPr>
              <a:t>6.0日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1600" y="5723890"/>
            <a:ext cx="5080000" cy="266700"/>
          </a:xfrm>
          <a:prstGeom prst="rect">
            <a:avLst/>
          </a:prstGeom>
          <a:noFill/>
          <a:ln w="9525">
            <a:solidFill>
              <a:schemeClr val="accent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H="1">
            <a:off x="5854700" y="5857240"/>
            <a:ext cx="4406900" cy="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5880100" y="5803900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0" y="4"/>
                </a:moveTo>
                <a:lnTo>
                  <a:pt x="10" y="0"/>
                </a:lnTo>
                <a:lnTo>
                  <a:pt x="10" y="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55205" y="5527040"/>
            <a:ext cx="15137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accent1"/>
                </a:solidFill>
              </a:rPr>
              <a:t>▲8.0日（▲57%）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ja"/>
          <p:cNvSpPr txBox="1"/>
          <p:nvPr/>
        </p:nvSpPr>
        <p:spPr>
          <a:xfrm>
            <a:off x="546100" y="438150"/>
            <a:ext cx="2292858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accent1"/>
                </a:solidFill>
              </a:rPr>
              <a:t>マトリクス＋抽出ロジック</a:t>
            </a:r>
          </a:p>
        </p:txBody>
      </p:sp>
      <p:sp>
        <p:nvSpPr>
          <p:cNvPr id="3" name="head"/>
          <p:cNvSpPr txBox="1"/>
          <p:nvPr/>
        </p:nvSpPr>
        <p:spPr>
          <a:xfrm>
            <a:off x="546100" y="831850"/>
            <a:ext cx="12952031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chemeClr val="tx1"/>
                </a:solidFill>
              </a:rPr>
              <a:t>シェアも成長も低い12型番は限界利益が赤字で、撤退の第一候補に置くべきだ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6100" y="1507490"/>
            <a:ext cx="120069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FA事業 型番ポートフォリオの整理方針（FY2025・売上上位40型番を表示）</a:t>
            </a:r>
          </a:p>
        </p:txBody>
      </p:sp>
      <p:sp>
        <p:nvSpPr>
          <p:cNvPr id="5" name="note_text"/>
          <p:cNvSpPr txBox="1"/>
          <p:nvPr/>
        </p:nvSpPr>
        <p:spPr>
          <a:xfrm>
            <a:off x="546100" y="6267450"/>
            <a:ext cx="6360058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accent5"/>
                </a:solidFill>
              </a:rPr>
              <a:t>注：●＝FA事業の型番（青の塗り＝撤退候補12型番、限界利益▲2億円）。相対シェア＝当社売上÷首位K社売上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6546850"/>
            <a:ext cx="4578972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出所：アルタイル精機 経営企画部の整理（数値はすべて架空のモデル値）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51895" y="6546850"/>
            <a:ext cx="44640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型32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0850" y="3867150"/>
            <a:ext cx="2762250" cy="14287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260850" y="2309495"/>
            <a:ext cx="0" cy="3114675"/>
          </a:xfrm>
          <a:prstGeom prst="line">
            <a:avLst/>
          </a:prstGeom>
          <a:ln w="1270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98600" y="3867150"/>
            <a:ext cx="5524500" cy="0"/>
          </a:xfrm>
          <a:prstGeom prst="line">
            <a:avLst/>
          </a:prstGeom>
          <a:ln w="1270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98600" y="2254250"/>
            <a:ext cx="0" cy="3169920"/>
          </a:xfrm>
          <a:prstGeom prst="line">
            <a:avLst/>
          </a:prstGeom>
          <a:ln w="15875">
            <a:solidFill>
              <a:schemeClr val="accent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98600" y="5424170"/>
            <a:ext cx="5588000" cy="0"/>
          </a:xfrm>
          <a:prstGeom prst="line">
            <a:avLst/>
          </a:prstGeom>
          <a:ln w="15875">
            <a:solidFill>
              <a:schemeClr val="accent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00200" y="2319655"/>
            <a:ext cx="1749018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市場成長率（年率） 高い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490" y="5254625"/>
            <a:ext cx="54991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chemeClr val="accent5"/>
                </a:solidFill>
              </a:rPr>
              <a:t>低い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9400" y="5531485"/>
            <a:ext cx="54991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高い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6990" y="5531485"/>
            <a:ext cx="54991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chemeClr val="accent5"/>
                </a:solidFill>
              </a:rPr>
              <a:t>低い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5816" y="5766435"/>
            <a:ext cx="2410701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accent5"/>
                </a:solidFill>
              </a:rPr>
              <a:t>相対マーケットシェア（対 首位K社）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0755" y="2596515"/>
            <a:ext cx="129095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accent5"/>
                </a:solidFill>
              </a:rPr>
              <a:t>伸ばす（次の主力）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1275" y="2596515"/>
            <a:ext cx="101028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accent5"/>
                </a:solidFill>
              </a:rPr>
              <a:t>選んで賭ける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69185" y="3994785"/>
            <a:ext cx="10147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chemeClr val="accent5"/>
                </a:solidFill>
              </a:rPr>
              <a:t>稼いで支える</a:t>
            </a:r>
          </a:p>
        </p:txBody>
      </p:sp>
      <p:sp>
        <p:nvSpPr>
          <p:cNvPr id="21" name="Oval 20"/>
          <p:cNvSpPr/>
          <p:nvPr/>
        </p:nvSpPr>
        <p:spPr>
          <a:xfrm>
            <a:off x="1968500" y="2867660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68550" y="3034029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94000" y="3380104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65500" y="2964815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22700" y="3490595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86000" y="3545840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0" y="2757170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78400" y="3310890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461000" y="2632710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05500" y="3103245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13500" y="2826385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05600" y="3407409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80000" y="2936875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68500" y="4695190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286000" y="4349115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540000" y="4944109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94000" y="4556759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11500" y="4210684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02000" y="5041265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83000" y="4764405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873500" y="4349115"/>
            <a:ext cx="101600" cy="101600"/>
          </a:xfrm>
          <a:prstGeom prst="ellipse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51350" y="4261484"/>
            <a:ext cx="2476500" cy="97155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970654"/>
            <a:ext cx="2260600" cy="22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bg1"/>
                </a:solidFill>
              </a:rPr>
              <a:t>撤退候補 12型番（売上21億円）</a:t>
            </a:r>
          </a:p>
        </p:txBody>
      </p:sp>
      <p:sp>
        <p:nvSpPr>
          <p:cNvPr id="44" name="Oval 43"/>
          <p:cNvSpPr/>
          <p:nvPr/>
        </p:nvSpPr>
        <p:spPr>
          <a:xfrm>
            <a:off x="4699000" y="4528820"/>
            <a:ext cx="101600" cy="101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080000" y="4418330"/>
            <a:ext cx="101600" cy="101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435600" y="4556759"/>
            <a:ext cx="101600" cy="101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16600" y="4390390"/>
            <a:ext cx="101600" cy="101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197600" y="4528820"/>
            <a:ext cx="101600" cy="101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78600" y="4404359"/>
            <a:ext cx="101600" cy="101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889500" y="4972050"/>
            <a:ext cx="101600" cy="101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70500" y="5082540"/>
            <a:ext cx="101600" cy="101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51500" y="4944109"/>
            <a:ext cx="101600" cy="101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032500" y="5068570"/>
            <a:ext cx="101600" cy="101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13500" y="4958080"/>
            <a:ext cx="101600" cy="101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731000" y="4764405"/>
            <a:ext cx="101600" cy="101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1600" y="1894204"/>
            <a:ext cx="3911600" cy="3810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12100" y="2099310"/>
            <a:ext cx="2665133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accent1"/>
                </a:solidFill>
              </a:rPr>
              <a:t>抽出ロジック：3条件すべてに該当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12100" y="2506980"/>
            <a:ext cx="2281885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① 市場成長率が年率3%未満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12100" y="2755265"/>
            <a:ext cx="295796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センサー市場全体の伸び＋8%を大きく下回る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12100" y="3143885"/>
            <a:ext cx="2066658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② 相対シェアが0.5倍未満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12100" y="3392170"/>
            <a:ext cx="2742742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首位K社の半分に届かず価格決定力を欠く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12100" y="3780790"/>
            <a:ext cx="2282685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③ 限界利益が2年連続で赤字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12100" y="4029075"/>
            <a:ext cx="2612326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値引き対応で採算割れが固定化している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912100" y="4441190"/>
            <a:ext cx="3530600" cy="0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912100" y="4639310"/>
            <a:ext cx="711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accent1"/>
                </a:solidFill>
              </a:rPr>
              <a:t>打ち手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12100" y="4908550"/>
            <a:ext cx="2834754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12型番をFY27末までに受注停止する。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12100" y="5143500"/>
            <a:ext cx="3019577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売上▲21億円に対し営業利益は＋4億円。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12100" y="5379085"/>
            <a:ext cx="263312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金型・保守要員は車載へ再配分する。</a:t>
            </a:r>
          </a:p>
        </p:txBody>
      </p:sp>
      <p:sp>
        <p:nvSpPr>
          <p:cNvPr id="69" name="Freeform 68"/>
          <p:cNvSpPr/>
          <p:nvPr/>
        </p:nvSpPr>
        <p:spPr>
          <a:xfrm>
            <a:off x="1574800" y="2082800"/>
            <a:ext cx="6146800" cy="495300"/>
          </a:xfrm>
          <a:custGeom>
            <a:avLst/>
            <a:gdLst/>
            <a:ahLst/>
            <a:cxnLst/>
            <a:rect l="l" t="t" r="r" b="b"/>
            <a:pathLst>
              <a:path w="484" h="39">
                <a:moveTo>
                  <a:pt x="484" y="39"/>
                </a:moveTo>
                <a:lnTo>
                  <a:pt x="459" y="39"/>
                </a:lnTo>
                <a:lnTo>
                  <a:pt x="459" y="0"/>
                </a:lnTo>
                <a:lnTo>
                  <a:pt x="0" y="0"/>
                </a:lnTo>
                <a:lnTo>
                  <a:pt x="0" y="9"/>
                </a:lnTo>
              </a:path>
            </a:pathLst>
          </a:custGeom>
          <a:noFill/>
          <a:ln w="12700">
            <a:solidFill>
              <a:schemeClr val="accent1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188200" y="3213100"/>
            <a:ext cx="533400" cy="2349500"/>
          </a:xfrm>
          <a:custGeom>
            <a:avLst/>
            <a:gdLst/>
            <a:ahLst/>
            <a:cxnLst/>
            <a:rect l="l" t="t" r="r" b="b"/>
            <a:pathLst>
              <a:path w="42" h="185">
                <a:moveTo>
                  <a:pt x="42" y="0"/>
                </a:moveTo>
                <a:lnTo>
                  <a:pt x="7" y="0"/>
                </a:lnTo>
                <a:lnTo>
                  <a:pt x="7" y="185"/>
                </a:lnTo>
                <a:lnTo>
                  <a:pt x="0" y="185"/>
                </a:lnTo>
              </a:path>
            </a:pathLst>
          </a:custGeom>
          <a:noFill/>
          <a:ln w="12700">
            <a:solidFill>
              <a:schemeClr val="accent1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353300" y="3848100"/>
            <a:ext cx="368300" cy="914400"/>
          </a:xfrm>
          <a:custGeom>
            <a:avLst/>
            <a:gdLst/>
            <a:ahLst/>
            <a:cxnLst/>
            <a:rect l="l" t="t" r="r" b="b"/>
            <a:pathLst>
              <a:path w="29" h="72">
                <a:moveTo>
                  <a:pt x="29" y="0"/>
                </a:moveTo>
                <a:lnTo>
                  <a:pt x="11" y="0"/>
                </a:lnTo>
                <a:lnTo>
                  <a:pt x="11" y="72"/>
                </a:lnTo>
                <a:lnTo>
                  <a:pt x="0" y="72"/>
                </a:lnTo>
              </a:path>
            </a:pathLst>
          </a:custGeom>
          <a:noFill/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6985000" y="4762500"/>
            <a:ext cx="215900" cy="0"/>
          </a:xfrm>
          <a:custGeom>
            <a:avLst/>
            <a:gdLst/>
            <a:ahLst/>
            <a:cxnLst/>
            <a:rect l="l" t="t" r="r" b="b"/>
            <a:pathLst>
              <a:path w="17" h="0">
                <a:moveTo>
                  <a:pt x="17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accent1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ja"/>
          <p:cNvSpPr txBox="1"/>
          <p:nvPr/>
        </p:nvSpPr>
        <p:spPr>
          <a:xfrm>
            <a:off x="546100" y="438150"/>
            <a:ext cx="160649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accent1"/>
                </a:solidFill>
              </a:rPr>
              <a:t>フェーズ別工程表</a:t>
            </a:r>
          </a:p>
        </p:txBody>
      </p:sp>
      <p:sp>
        <p:nvSpPr>
          <p:cNvPr id="3" name="head"/>
          <p:cNvSpPr txBox="1"/>
          <p:nvPr/>
        </p:nvSpPr>
        <p:spPr>
          <a:xfrm>
            <a:off x="546100" y="831850"/>
            <a:ext cx="12979806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chemeClr val="tx1"/>
                </a:solidFill>
              </a:rPr>
              <a:t>フェーズ3へ進むには、FY27上期までに▲18億円を先行確定させる必要がある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6100" y="1507490"/>
            <a:ext cx="12075693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ALTAIR 2030 実行工程（FY2026〜FY2028・四半期）｜現在：FY2026 Q3末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6546850"/>
            <a:ext cx="4578972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出所：アルタイル精機 経営企画部の整理（数値はすべて架空のモデル値）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1895" y="6546850"/>
            <a:ext cx="44640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型37</a:t>
            </a:r>
          </a:p>
        </p:txBody>
      </p:sp>
      <p:sp>
        <p:nvSpPr>
          <p:cNvPr id="7" name="Rectangle 6"/>
          <p:cNvSpPr/>
          <p:nvPr/>
        </p:nvSpPr>
        <p:spPr>
          <a:xfrm>
            <a:off x="6959600" y="1761489"/>
            <a:ext cx="165100" cy="1143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5500" y="1755139"/>
            <a:ext cx="5207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tx1"/>
                </a:solidFill>
              </a:rPr>
              <a:t>完了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58100" y="1761489"/>
            <a:ext cx="165100" cy="114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0" y="1755139"/>
            <a:ext cx="5334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tx1"/>
                </a:solidFill>
              </a:rPr>
              <a:t>計画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20100" y="1748789"/>
            <a:ext cx="0" cy="13970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96300" y="1755139"/>
            <a:ext cx="5334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tx1"/>
                </a:solidFill>
              </a:rPr>
              <a:t>現在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55100" y="1748789"/>
            <a:ext cx="0" cy="139700"/>
          </a:xfrm>
          <a:prstGeom prst="line">
            <a:avLst/>
          </a:prstGeom>
          <a:ln w="12700">
            <a:solidFill>
              <a:schemeClr val="accent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31300" y="1755139"/>
            <a:ext cx="105346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tx1"/>
                </a:solidFill>
              </a:rPr>
              <a:t>フェーズ移行点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3600" y="1939289"/>
            <a:ext cx="3168650" cy="190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tx1"/>
                </a:solidFill>
              </a:rPr>
              <a:t>FY2026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14950" y="1939289"/>
            <a:ext cx="3155950" cy="190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tx1"/>
                </a:solidFill>
              </a:rPr>
              <a:t>FY2027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83600" y="1939289"/>
            <a:ext cx="3162300" cy="190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tx1"/>
                </a:solidFill>
              </a:rPr>
              <a:t>FY2028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1715" y="2167890"/>
            <a:ext cx="470534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5465" y="2167890"/>
            <a:ext cx="470534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9215" y="2167890"/>
            <a:ext cx="470534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965" y="2167890"/>
            <a:ext cx="4711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6715" y="2167890"/>
            <a:ext cx="470534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Q1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0465" y="2167890"/>
            <a:ext cx="470534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Q2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7865" y="2167890"/>
            <a:ext cx="470534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Q3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1615" y="2167890"/>
            <a:ext cx="4711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5365" y="2167890"/>
            <a:ext cx="470534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Q1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9115" y="2167890"/>
            <a:ext cx="470534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Q2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865" y="2167890"/>
            <a:ext cx="470534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Q3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6615" y="2167890"/>
            <a:ext cx="4711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chemeClr val="accent5"/>
                </a:solidFill>
              </a:rPr>
              <a:t>Q4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926080" y="2332990"/>
            <a:ext cx="0" cy="3745865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19195" y="2332990"/>
            <a:ext cx="0" cy="3745865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11675" y="2332990"/>
            <a:ext cx="0" cy="3745865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304155" y="2332990"/>
            <a:ext cx="0" cy="3745865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97270" y="2332990"/>
            <a:ext cx="0" cy="3745865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89750" y="2332990"/>
            <a:ext cx="0" cy="3745865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682230" y="2332990"/>
            <a:ext cx="0" cy="3745865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75345" y="2332990"/>
            <a:ext cx="0" cy="3745865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267825" y="2332990"/>
            <a:ext cx="0" cy="3745865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060305" y="2332990"/>
            <a:ext cx="0" cy="3745865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853420" y="2332990"/>
            <a:ext cx="0" cy="3745865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133600" y="2375535"/>
            <a:ext cx="2378075" cy="711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11675" y="3124835"/>
            <a:ext cx="1585595" cy="711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97270" y="3873500"/>
            <a:ext cx="2378075" cy="711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75345" y="4622800"/>
            <a:ext cx="2378075" cy="711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853420" y="5372100"/>
            <a:ext cx="792480" cy="711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6100" y="2375535"/>
            <a:ext cx="1460500" cy="711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bg1"/>
                </a:solidFill>
              </a:rPr>
              <a:t>フェーズ1</a:t>
            </a:r>
          </a:p>
          <a:p>
            <a:pPr algn="ctr"/>
            <a:r>
              <a:rPr sz="1000" b="0">
                <a:solidFill>
                  <a:schemeClr val="bg1"/>
                </a:solidFill>
              </a:rPr>
              <a:t>診断・構想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6100" y="3124835"/>
            <a:ext cx="1460500" cy="711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bg1"/>
                </a:solidFill>
              </a:rPr>
              <a:t>フェーズ2</a:t>
            </a:r>
          </a:p>
          <a:p>
            <a:pPr algn="ctr"/>
            <a:r>
              <a:rPr sz="1000" b="0">
                <a:solidFill>
                  <a:schemeClr val="bg1"/>
                </a:solidFill>
              </a:rPr>
              <a:t>クイックウィン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6100" y="3873500"/>
            <a:ext cx="1460500" cy="711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bg1"/>
                </a:solidFill>
              </a:rPr>
              <a:t>フェーズ3</a:t>
            </a:r>
          </a:p>
          <a:p>
            <a:pPr algn="ctr"/>
            <a:r>
              <a:rPr sz="1000" b="0">
                <a:solidFill>
                  <a:schemeClr val="bg1"/>
                </a:solidFill>
              </a:rPr>
              <a:t>構造改革の実行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6100" y="4622800"/>
            <a:ext cx="1460500" cy="711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bg1"/>
                </a:solidFill>
              </a:rPr>
              <a:t>フェーズ4</a:t>
            </a:r>
          </a:p>
          <a:p>
            <a:pPr algn="ctr"/>
            <a:r>
              <a:rPr sz="1000" b="0">
                <a:solidFill>
                  <a:schemeClr val="bg1"/>
                </a:solidFill>
              </a:rPr>
              <a:t>全社展開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6100" y="5372100"/>
            <a:ext cx="1460500" cy="711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bg1"/>
                </a:solidFill>
              </a:rPr>
              <a:t>フェーズ5</a:t>
            </a:r>
          </a:p>
          <a:p>
            <a:pPr algn="ctr"/>
            <a:r>
              <a:rPr sz="1000" b="0">
                <a:solidFill>
                  <a:schemeClr val="bg1"/>
                </a:solidFill>
              </a:rPr>
              <a:t>定着・自走化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97270" y="3477895"/>
            <a:ext cx="0" cy="749300"/>
          </a:xfrm>
          <a:prstGeom prst="line">
            <a:avLst/>
          </a:prstGeom>
          <a:ln w="12700">
            <a:solidFill>
              <a:schemeClr val="accent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475345" y="4227195"/>
            <a:ext cx="0" cy="749300"/>
          </a:xfrm>
          <a:prstGeom prst="line">
            <a:avLst/>
          </a:prstGeom>
          <a:ln w="12700">
            <a:solidFill>
              <a:schemeClr val="accent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853420" y="4976495"/>
            <a:ext cx="0" cy="748665"/>
          </a:xfrm>
          <a:prstGeom prst="line">
            <a:avLst/>
          </a:prstGeom>
          <a:ln w="12700">
            <a:solidFill>
              <a:schemeClr val="accent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2133600" y="2488565"/>
            <a:ext cx="1581150" cy="190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0">
                <a:solidFill>
                  <a:schemeClr val="bg1"/>
                </a:solidFill>
              </a:rPr>
              <a:t>現状診断・課題の棚卸し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26080" y="2785110"/>
            <a:ext cx="1585595" cy="190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0">
                <a:solidFill>
                  <a:schemeClr val="bg1"/>
                </a:solidFill>
              </a:rPr>
              <a:t>中計「ALTAIR 2030」策定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11675" y="3237865"/>
            <a:ext cx="1585595" cy="190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0">
                <a:solidFill>
                  <a:schemeClr val="accent1"/>
                </a:solidFill>
              </a:rPr>
              <a:t>集中購買切替（▲12億）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11675" y="3534409"/>
            <a:ext cx="1585595" cy="190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0">
                <a:solidFill>
                  <a:schemeClr val="accent1"/>
                </a:solidFill>
              </a:rPr>
              <a:t>Care料金改定（+6億）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7270" y="3930015"/>
            <a:ext cx="2378075" cy="165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0">
                <a:solidFill>
                  <a:schemeClr val="accent1"/>
                </a:solidFill>
              </a:rPr>
              <a:t>型番削減 1,200→800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7270" y="4156709"/>
            <a:ext cx="1585595" cy="165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0">
                <a:solidFill>
                  <a:schemeClr val="accent1"/>
                </a:solidFill>
              </a:rPr>
              <a:t>見積プロセス再設計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89750" y="4382770"/>
            <a:ext cx="1585595" cy="165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0">
                <a:solidFill>
                  <a:schemeClr val="accent1"/>
                </a:solidFill>
              </a:rPr>
              <a:t>組織7→5階層へ移行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75345" y="4679315"/>
            <a:ext cx="1585595" cy="165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0">
                <a:solidFill>
                  <a:schemeClr val="accent1"/>
                </a:solidFill>
              </a:rPr>
              <a:t>車載ラインC3量産稼働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75345" y="4905375"/>
            <a:ext cx="2378075" cy="165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0">
                <a:solidFill>
                  <a:schemeClr val="accent1"/>
                </a:solidFill>
              </a:rPr>
              <a:t>Care遠隔監視の全顧客展開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67825" y="5131435"/>
            <a:ext cx="1585595" cy="165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0">
                <a:solidFill>
                  <a:schemeClr val="accent1"/>
                </a:solidFill>
              </a:rPr>
              <a:t>新人事制度の全社適用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853420" y="5485130"/>
            <a:ext cx="717550" cy="190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1569700" y="5486400"/>
            <a:ext cx="76200" cy="215900"/>
          </a:xfrm>
          <a:custGeom>
            <a:avLst/>
            <a:gdLst/>
            <a:ahLst/>
            <a:cxnLst/>
            <a:rect l="l" t="t" r="r" b="b"/>
            <a:pathLst>
              <a:path w="6" h="17">
                <a:moveTo>
                  <a:pt x="0" y="0"/>
                </a:moveTo>
                <a:lnTo>
                  <a:pt x="6" y="8"/>
                </a:lnTo>
                <a:lnTo>
                  <a:pt x="0" y="17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26245" y="5532120"/>
            <a:ext cx="1462405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chemeClr val="accent1"/>
                </a:solidFill>
              </a:rPr>
              <a:t>KPI自走運用へ引き渡し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853420" y="5781675"/>
            <a:ext cx="717550" cy="190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1569700" y="5778500"/>
            <a:ext cx="76200" cy="215900"/>
          </a:xfrm>
          <a:custGeom>
            <a:avLst/>
            <a:gdLst/>
            <a:ahLst/>
            <a:cxnLst/>
            <a:rect l="l" t="t" r="r" b="b"/>
            <a:pathLst>
              <a:path w="6" h="17">
                <a:moveTo>
                  <a:pt x="0" y="0"/>
                </a:moveTo>
                <a:lnTo>
                  <a:pt x="6" y="9"/>
                </a:lnTo>
                <a:lnTo>
                  <a:pt x="0" y="17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34830" y="5828665"/>
            <a:ext cx="135382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chemeClr val="accent1"/>
                </a:solidFill>
              </a:rPr>
              <a:t>効果▲68億円の確定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511675" y="2375535"/>
            <a:ext cx="0" cy="3703320"/>
          </a:xfrm>
          <a:prstGeom prst="line">
            <a:avLst/>
          </a:prstGeom>
          <a:ln w="2222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4470400" y="2324100"/>
            <a:ext cx="88900" cy="63500"/>
          </a:xfrm>
          <a:custGeom>
            <a:avLst/>
            <a:gdLst/>
            <a:ahLst/>
            <a:cxnLst/>
            <a:rect l="l" t="t" r="r" b="b"/>
            <a:pathLst>
              <a:path w="7" h="5">
                <a:moveTo>
                  <a:pt x="0" y="0"/>
                </a:moveTo>
                <a:lnTo>
                  <a:pt x="7" y="0"/>
                </a:lnTo>
                <a:lnTo>
                  <a:pt x="3" y="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84700" y="2465070"/>
            <a:ext cx="1485785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chemeClr val="accent1"/>
                </a:solidFill>
              </a:rPr>
              <a:t>現在：フェーズ1の出口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ja"/>
          <p:cNvSpPr txBox="1"/>
          <p:nvPr/>
        </p:nvSpPr>
        <p:spPr>
          <a:xfrm>
            <a:off x="546100" y="438150"/>
            <a:ext cx="104902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accent1"/>
                </a:solidFill>
              </a:rPr>
              <a:t>流通構造図</a:t>
            </a:r>
          </a:p>
        </p:txBody>
      </p:sp>
      <p:sp>
        <p:nvSpPr>
          <p:cNvPr id="3" name="head"/>
          <p:cNvSpPr txBox="1"/>
          <p:nvPr/>
        </p:nvSpPr>
        <p:spPr>
          <a:xfrm>
            <a:off x="546100" y="831850"/>
            <a:ext cx="13024726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chemeClr val="tx1"/>
                </a:solidFill>
              </a:rPr>
              <a:t>需要の55%を握る系列に接点がないため、拡販には独立系商社との提携が必要だ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6100" y="1507490"/>
            <a:ext cx="12209881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産業用センサーの国内流通構造と当社の販売接点（FY2025、エンド需要シェアは金額ベース）</a:t>
            </a:r>
          </a:p>
        </p:txBody>
      </p:sp>
      <p:sp>
        <p:nvSpPr>
          <p:cNvPr id="5" name="note_text"/>
          <p:cNvSpPr txBox="1"/>
          <p:nvPr/>
        </p:nvSpPr>
        <p:spPr>
          <a:xfrm>
            <a:off x="546100" y="6267450"/>
            <a:ext cx="43879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accent5"/>
                </a:solidFill>
              </a:rPr>
              <a:t>注：系列＝専属・資本関係で束ねた流通ルートの区分。社数は取引実績ベース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6546850"/>
            <a:ext cx="4578972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出所：アルタイル精機 経営企画部の整理（数値はすべて架空のモデル値）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51260" y="6546850"/>
            <a:ext cx="44704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型41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5600" y="1812289"/>
            <a:ext cx="2413000" cy="406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系列① 直販</a:t>
            </a:r>
          </a:p>
          <a:p>
            <a:pPr algn="ctr"/>
            <a:r>
              <a:rPr sz="900" b="0">
                <a:solidFill>
                  <a:schemeClr val="bg1"/>
                </a:solidFill>
              </a:rPr>
              <a:t>当社 取扱あり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3850" y="1812289"/>
            <a:ext cx="2413000" cy="406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系列② 当社代理店</a:t>
            </a:r>
          </a:p>
          <a:p>
            <a:pPr algn="ctr"/>
            <a:r>
              <a:rPr sz="900" b="0">
                <a:solidFill>
                  <a:schemeClr val="bg1"/>
                </a:solidFill>
              </a:rPr>
              <a:t>当社 取扱あり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42100" y="1812289"/>
            <a:ext cx="2413000" cy="4064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chemeClr val="tx1"/>
                </a:solidFill>
              </a:rPr>
              <a:t>系列③ K社系列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競合専属・参入不可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50350" y="1812289"/>
            <a:ext cx="2413000" cy="4064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chemeClr val="tx1"/>
                </a:solidFill>
              </a:rPr>
              <a:t>系列④ 独立系商社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当社 取扱なし・提携余地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5600" y="2320290"/>
            <a:ext cx="2413000" cy="317500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33850" y="2320290"/>
            <a:ext cx="2413000" cy="317500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42100" y="2320290"/>
            <a:ext cx="2413000" cy="3175000"/>
          </a:xfrm>
          <a:prstGeom prst="rect">
            <a:avLst/>
          </a:prstGeom>
          <a:noFill/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50350" y="2320290"/>
            <a:ext cx="2413000" cy="3175000"/>
          </a:xfrm>
          <a:prstGeom prst="rect">
            <a:avLst/>
          </a:prstGeom>
          <a:noFill/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100" y="2635250"/>
            <a:ext cx="9486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accent5"/>
                </a:solidFill>
              </a:rPr>
              <a:t>メーカー層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100" y="3350895"/>
            <a:ext cx="9715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accent5"/>
                </a:solidFill>
              </a:rPr>
              <a:t>一次流通層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100" y="3549650"/>
            <a:ext cx="7620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accent5"/>
                </a:solidFill>
              </a:rPr>
              <a:t>（代理店）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100" y="4152265"/>
            <a:ext cx="9715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accent5"/>
                </a:solidFill>
              </a:rPr>
              <a:t>二次流通層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100" y="4351020"/>
            <a:ext cx="8763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accent5"/>
                </a:solidFill>
              </a:rPr>
              <a:t>（設備商社）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100" y="5039995"/>
            <a:ext cx="10668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chemeClr val="accent5"/>
                </a:solidFill>
              </a:rPr>
              <a:t>エンド顧客層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98600" y="3093085"/>
            <a:ext cx="10147300" cy="0"/>
          </a:xfrm>
          <a:prstGeom prst="line">
            <a:avLst/>
          </a:prstGeom>
          <a:ln w="6350">
            <a:solidFill>
              <a:schemeClr val="accent3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98600" y="3894454"/>
            <a:ext cx="10147300" cy="0"/>
          </a:xfrm>
          <a:prstGeom prst="line">
            <a:avLst/>
          </a:prstGeom>
          <a:ln w="6350">
            <a:solidFill>
              <a:schemeClr val="accent3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98600" y="4696459"/>
            <a:ext cx="10147300" cy="0"/>
          </a:xfrm>
          <a:prstGeom prst="line">
            <a:avLst/>
          </a:prstGeom>
          <a:ln w="6350">
            <a:solidFill>
              <a:schemeClr val="accent3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816100" y="2463165"/>
            <a:ext cx="20320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bg1"/>
                </a:solidFill>
              </a:rPr>
              <a:t>当社 直販営業部</a:t>
            </a:r>
          </a:p>
          <a:p>
            <a:pPr algn="ctr"/>
            <a:r>
              <a:rPr sz="900" b="0">
                <a:solidFill>
                  <a:schemeClr val="bg1"/>
                </a:solidFill>
              </a:rPr>
              <a:t>キーアカウント担当 30名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32100" y="2978785"/>
            <a:ext cx="0" cy="1875155"/>
          </a:xfrm>
          <a:prstGeom prst="line">
            <a:avLst/>
          </a:prstGeom>
          <a:ln w="12700">
            <a:solidFill>
              <a:schemeClr val="accent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21000" y="3442970"/>
            <a:ext cx="1000125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中間流通なし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1000" y="3629025"/>
            <a:ext cx="89916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（直接取引）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16100" y="4896484"/>
            <a:ext cx="20320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大手FAライン顧客 約120社</a:t>
            </a:r>
          </a:p>
          <a:p>
            <a:pPr algn="ctr"/>
            <a:r>
              <a:rPr sz="1000" b="0">
                <a:solidFill>
                  <a:schemeClr val="tx1"/>
                </a:solidFill>
              </a:rPr>
              <a:t>エンド需要の</a:t>
            </a:r>
            <a:r>
              <a:rPr sz="1000" b="1">
                <a:solidFill>
                  <a:schemeClr val="tx1"/>
                </a:solidFill>
              </a:rPr>
              <a:t>25%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4350" y="2463165"/>
            <a:ext cx="20320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bg1"/>
                </a:solidFill>
              </a:rPr>
              <a:t>当社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40350" y="2978785"/>
            <a:ext cx="0" cy="271780"/>
          </a:xfrm>
          <a:prstGeom prst="line">
            <a:avLst/>
          </a:prstGeom>
          <a:ln w="12700">
            <a:solidFill>
              <a:schemeClr val="accent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324350" y="3293745"/>
            <a:ext cx="2032000" cy="457200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bg1"/>
                </a:solidFill>
              </a:rPr>
              <a:t>専属代理店 18社</a:t>
            </a:r>
          </a:p>
          <a:p>
            <a:pPr algn="ctr"/>
            <a:r>
              <a:rPr sz="900" b="0">
                <a:solidFill>
                  <a:schemeClr val="bg1"/>
                </a:solidFill>
              </a:rPr>
              <a:t>在庫・技術サポート機能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40350" y="3808729"/>
            <a:ext cx="0" cy="271780"/>
          </a:xfrm>
          <a:prstGeom prst="line">
            <a:avLst/>
          </a:prstGeom>
          <a:ln w="12700">
            <a:solidFill>
              <a:schemeClr val="accent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324350" y="4123690"/>
            <a:ext cx="2032000" cy="457200"/>
          </a:xfrm>
          <a:prstGeom prst="rect">
            <a:avLst/>
          </a:prstGeom>
          <a:solidFill>
            <a:schemeClr val="accent1">
              <a:lumMod val="48000"/>
              <a:lumOff val="5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系列販売店 約90社</a:t>
            </a:r>
          </a:p>
          <a:p>
            <a:pPr algn="ctr"/>
            <a:r>
              <a:rPr sz="900" b="0">
                <a:solidFill>
                  <a:schemeClr val="tx1"/>
                </a:solidFill>
              </a:rPr>
              <a:t>地場の据付・小口対応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40350" y="4638675"/>
            <a:ext cx="0" cy="215265"/>
          </a:xfrm>
          <a:prstGeom prst="line">
            <a:avLst/>
          </a:prstGeom>
          <a:ln w="12700">
            <a:solidFill>
              <a:schemeClr val="accent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324350" y="4896484"/>
            <a:ext cx="20320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中堅装置メーカー</a:t>
            </a:r>
          </a:p>
          <a:p>
            <a:pPr algn="ctr"/>
            <a:r>
              <a:rPr sz="1000" b="0">
                <a:solidFill>
                  <a:schemeClr val="tx1"/>
                </a:solidFill>
              </a:rPr>
              <a:t>エンド需要の</a:t>
            </a:r>
            <a:r>
              <a:rPr sz="1000" b="1">
                <a:solidFill>
                  <a:schemeClr val="tx1"/>
                </a:solidFill>
              </a:rPr>
              <a:t>20%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32600" y="2463165"/>
            <a:ext cx="2032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K社・S社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48600" y="2978785"/>
            <a:ext cx="0" cy="271780"/>
          </a:xfrm>
          <a:prstGeom prst="line">
            <a:avLst/>
          </a:prstGeom>
          <a:ln w="12700">
            <a:solidFill>
              <a:schemeClr val="accent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832600" y="3293745"/>
            <a:ext cx="2032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K社系代理店 25社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専属契約（他社品を排除）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848600" y="3808729"/>
            <a:ext cx="0" cy="271780"/>
          </a:xfrm>
          <a:prstGeom prst="line">
            <a:avLst/>
          </a:prstGeom>
          <a:ln w="12700">
            <a:solidFill>
              <a:schemeClr val="accent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832600" y="4123690"/>
            <a:ext cx="2032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K社系商社 約140社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保守部品の供給網を併営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48600" y="4638675"/>
            <a:ext cx="0" cy="215265"/>
          </a:xfrm>
          <a:prstGeom prst="line">
            <a:avLst/>
          </a:prstGeom>
          <a:ln w="12700">
            <a:solidFill>
              <a:schemeClr val="accent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832600" y="4896484"/>
            <a:ext cx="20320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K社系ユーザー</a:t>
            </a:r>
          </a:p>
          <a:p>
            <a:pPr algn="ctr"/>
            <a:r>
              <a:rPr sz="1000" b="0">
                <a:solidFill>
                  <a:schemeClr val="tx1"/>
                </a:solidFill>
              </a:rPr>
              <a:t>エンド需要の</a:t>
            </a:r>
            <a:r>
              <a:rPr sz="1000" b="1">
                <a:solidFill>
                  <a:schemeClr val="tx1"/>
                </a:solidFill>
              </a:rPr>
              <a:t>30%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40850" y="2463165"/>
            <a:ext cx="2032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国内外メーカー各社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当社は口座なし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56850" y="2978785"/>
            <a:ext cx="0" cy="271780"/>
          </a:xfrm>
          <a:prstGeom prst="line">
            <a:avLst/>
          </a:prstGeom>
          <a:ln w="12700">
            <a:solidFill>
              <a:schemeClr val="accent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9340850" y="3293745"/>
            <a:ext cx="2032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独立系卸 12社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マルチブランド調達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356850" y="3808729"/>
            <a:ext cx="0" cy="271780"/>
          </a:xfrm>
          <a:prstGeom prst="line">
            <a:avLst/>
          </a:prstGeom>
          <a:ln w="12700">
            <a:solidFill>
              <a:schemeClr val="accent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9340850" y="4123690"/>
            <a:ext cx="2032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独立系設備商社 約210社</a:t>
            </a:r>
          </a:p>
          <a:p>
            <a:pPr algn="ctr"/>
            <a:r>
              <a:rPr sz="900" b="0">
                <a:solidFill>
                  <a:schemeClr val="accent5"/>
                </a:solidFill>
              </a:rPr>
              <a:t>中小工場への面のカバー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356850" y="4638675"/>
            <a:ext cx="0" cy="215265"/>
          </a:xfrm>
          <a:prstGeom prst="line">
            <a:avLst/>
          </a:prstGeom>
          <a:ln w="12700">
            <a:solidFill>
              <a:schemeClr val="accent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9340850" y="4896484"/>
            <a:ext cx="20320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chemeClr val="tx1"/>
                </a:solidFill>
              </a:rPr>
              <a:t>中小・地場工場</a:t>
            </a:r>
          </a:p>
          <a:p>
            <a:pPr algn="ctr"/>
            <a:r>
              <a:rPr sz="1000" b="0">
                <a:solidFill>
                  <a:schemeClr val="tx1"/>
                </a:solidFill>
              </a:rPr>
              <a:t>エンド需要の</a:t>
            </a:r>
            <a:r>
              <a:rPr sz="1000" b="1">
                <a:solidFill>
                  <a:schemeClr val="tx1"/>
                </a:solidFill>
              </a:rPr>
              <a:t>25%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625600" y="5697855"/>
            <a:ext cx="4921250" cy="0"/>
          </a:xfrm>
          <a:prstGeom prst="line">
            <a:avLst/>
          </a:prstGeom>
          <a:ln w="158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625600" y="5612130"/>
            <a:ext cx="0" cy="85725"/>
          </a:xfrm>
          <a:prstGeom prst="line">
            <a:avLst/>
          </a:prstGeom>
          <a:ln w="158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546850" y="5612130"/>
            <a:ext cx="0" cy="85725"/>
          </a:xfrm>
          <a:prstGeom prst="line">
            <a:avLst/>
          </a:prstGeom>
          <a:ln w="158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873216" y="5849620"/>
            <a:ext cx="2420302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accent1"/>
                </a:solidFill>
              </a:rPr>
              <a:t>当社リーチ＝エンド需要の45%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42100" y="5697855"/>
            <a:ext cx="4921250" cy="0"/>
          </a:xfrm>
          <a:prstGeom prst="line">
            <a:avLst/>
          </a:prstGeom>
          <a:ln w="158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42100" y="5612130"/>
            <a:ext cx="0" cy="85725"/>
          </a:xfrm>
          <a:prstGeom prst="line">
            <a:avLst/>
          </a:prstGeom>
          <a:ln w="158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563350" y="5612130"/>
            <a:ext cx="0" cy="85725"/>
          </a:xfrm>
          <a:prstGeom prst="line">
            <a:avLst/>
          </a:prstGeom>
          <a:ln w="158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535437" y="5849620"/>
            <a:ext cx="31275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tx1"/>
                </a:solidFill>
              </a:rPr>
              <a:t>当社の販売接点なし＝エンド需要の55%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1803400"/>
            <a:ext cx="11099800" cy="3886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6100" y="1806575"/>
            <a:ext cx="110998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49275" y="1803400"/>
            <a:ext cx="0" cy="388620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52450" y="1809750"/>
            <a:ext cx="1524000" cy="393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25400" bIns="25400"/>
          <a:lstStyle/>
          <a:p>
            <a:pPr algn="ctr"/>
            <a:r>
              <a:rPr sz="1000" b="1">
                <a:solidFill>
                  <a:schemeClr val="bg1"/>
                </a:solidFill>
              </a:rPr>
              <a:t>Careの3課題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73275" y="1809750"/>
            <a:ext cx="0" cy="39370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52450" y="2200275"/>
            <a:ext cx="1524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76450" y="1809750"/>
            <a:ext cx="2921000" cy="393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25400" bIns="25400"/>
          <a:lstStyle/>
          <a:p>
            <a:pPr algn="l"/>
            <a:r>
              <a:rPr sz="1000" b="1">
                <a:solidFill>
                  <a:schemeClr val="bg1"/>
                </a:solidFill>
              </a:rPr>
              <a:t>課題｜何が起きているか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94275" y="1809750"/>
            <a:ext cx="0" cy="39370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76450" y="2200275"/>
            <a:ext cx="2921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97450" y="1809750"/>
            <a:ext cx="3175000" cy="393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25400" bIns="25400"/>
          <a:lstStyle/>
          <a:p>
            <a:pPr algn="l"/>
            <a:r>
              <a:rPr sz="1000" b="1">
                <a:solidFill>
                  <a:schemeClr val="bg1"/>
                </a:solidFill>
              </a:rPr>
              <a:t>現状（FY2025・定量）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69275" y="1809750"/>
            <a:ext cx="0" cy="39370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97450" y="2200275"/>
            <a:ext cx="3175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172450" y="1809750"/>
            <a:ext cx="3479800" cy="393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25400" bIns="25400"/>
          <a:lstStyle/>
          <a:p>
            <a:pPr algn="l"/>
            <a:r>
              <a:rPr sz="1000" b="1">
                <a:solidFill>
                  <a:schemeClr val="bg1"/>
                </a:solidFill>
              </a:rPr>
              <a:t>打ち手（中計・柱C：Care 80→300億円）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649075" y="1809750"/>
            <a:ext cx="0" cy="39370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72450" y="2200275"/>
            <a:ext cx="34798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52450" y="2203450"/>
            <a:ext cx="1524000" cy="11620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073275" y="2203450"/>
            <a:ext cx="0" cy="116205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2450" y="3362325"/>
            <a:ext cx="1524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076450" y="2203450"/>
            <a:ext cx="2921000" cy="1162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994275" y="2203450"/>
            <a:ext cx="0" cy="116205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76450" y="3362325"/>
            <a:ext cx="2921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997450" y="2203450"/>
            <a:ext cx="3175000" cy="1162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169275" y="2203450"/>
            <a:ext cx="0" cy="116205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97450" y="3362325"/>
            <a:ext cx="3175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172450" y="2203450"/>
            <a:ext cx="3479800" cy="1162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1649075" y="2203450"/>
            <a:ext cx="0" cy="116205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172450" y="3362325"/>
            <a:ext cx="34798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299450" y="2305050"/>
            <a:ext cx="161607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25400" bIns="25400"/>
          <a:lstStyle/>
          <a:p>
            <a:pPr algn="l"/>
            <a:r>
              <a:rPr sz="1000" b="1">
                <a:solidFill>
                  <a:schemeClr val="tx1"/>
                </a:solidFill>
              </a:rPr>
              <a:t>代理店を「代売網」に転換する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99450" y="2492375"/>
            <a:ext cx="1616075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52450" y="3365500"/>
            <a:ext cx="1524000" cy="11620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073275" y="3365500"/>
            <a:ext cx="0" cy="116205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2450" y="4524375"/>
            <a:ext cx="1524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076450" y="3365500"/>
            <a:ext cx="2921000" cy="1162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4994275" y="3365500"/>
            <a:ext cx="0" cy="116205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76450" y="4524375"/>
            <a:ext cx="2921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997450" y="3365500"/>
            <a:ext cx="3175000" cy="1162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169275" y="3365500"/>
            <a:ext cx="0" cy="116205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97450" y="4524375"/>
            <a:ext cx="3175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172450" y="3365500"/>
            <a:ext cx="3479800" cy="1162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1649075" y="3365500"/>
            <a:ext cx="0" cy="116205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172450" y="4524375"/>
            <a:ext cx="34798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8299450" y="3467100"/>
            <a:ext cx="236093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25400" bIns="25400"/>
          <a:lstStyle/>
          <a:p>
            <a:pPr algn="l"/>
            <a:r>
              <a:rPr sz="1000" b="1">
                <a:solidFill>
                  <a:schemeClr val="tx1"/>
                </a:solidFill>
              </a:rPr>
              <a:t>代理店技術者を認定し「遠隔で防ぐ」体制へ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99450" y="3654425"/>
            <a:ext cx="236093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52450" y="4527550"/>
            <a:ext cx="1524000" cy="11620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073275" y="4527550"/>
            <a:ext cx="0" cy="116205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2450" y="5686425"/>
            <a:ext cx="1524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076450" y="4527550"/>
            <a:ext cx="2921000" cy="1162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994275" y="4527550"/>
            <a:ext cx="0" cy="116205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076450" y="5686425"/>
            <a:ext cx="2921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4997450" y="4527550"/>
            <a:ext cx="3175000" cy="1162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8169275" y="4527550"/>
            <a:ext cx="0" cy="116205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97450" y="5686425"/>
            <a:ext cx="31750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8172450" y="4527550"/>
            <a:ext cx="3479800" cy="1162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1649075" y="4527550"/>
            <a:ext cx="0" cy="116205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172450" y="5686425"/>
            <a:ext cx="3479800" cy="0"/>
          </a:xfrm>
          <a:prstGeom prst="line">
            <a:avLst/>
          </a:prstGeom>
          <a:ln w="63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8299450" y="4629150"/>
            <a:ext cx="2047239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25400" bIns="25400"/>
          <a:lstStyle/>
          <a:p>
            <a:pPr algn="l"/>
            <a:r>
              <a:rPr sz="1000" b="1">
                <a:solidFill>
                  <a:schemeClr val="tx1"/>
                </a:solidFill>
              </a:rPr>
              <a:t>代理店が売れる3段プランで面を取る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299450" y="4816475"/>
            <a:ext cx="204724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46100" y="5831840"/>
            <a:ext cx="11099800" cy="3657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100" rIns="165100" tIns="25400" bIns="25400"/>
          <a:lstStyle/>
          <a:p>
            <a:pPr algn="l"/>
            <a:r>
              <a:rPr sz="1200" b="1">
                <a:solidFill>
                  <a:schemeClr val="accent1"/>
                </a:solidFill>
              </a:rPr>
              <a:t>論点｜</a:t>
            </a:r>
            <a:r>
              <a:rPr sz="1200" b="1">
                <a:solidFill>
                  <a:schemeClr val="tx1"/>
                </a:solidFill>
              </a:rPr>
              <a:t>販売権・認定制度・ライトプランを9月の投資委員会へ一括で付議することの可否</a:t>
            </a:r>
          </a:p>
        </p:txBody>
      </p:sp>
      <p:sp>
        <p:nvSpPr>
          <p:cNvPr id="60" name="secja"/>
          <p:cNvSpPr txBox="1"/>
          <p:nvPr/>
        </p:nvSpPr>
        <p:spPr>
          <a:xfrm>
            <a:off x="546100" y="438150"/>
            <a:ext cx="205532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accent1"/>
                </a:solidFill>
              </a:rPr>
              <a:t>論証テーブル（基本形）</a:t>
            </a:r>
          </a:p>
        </p:txBody>
      </p:sp>
      <p:sp>
        <p:nvSpPr>
          <p:cNvPr id="61" name="head"/>
          <p:cNvSpPr txBox="1"/>
          <p:nvPr/>
        </p:nvSpPr>
        <p:spPr>
          <a:xfrm>
            <a:off x="546100" y="831850"/>
            <a:ext cx="12967462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chemeClr val="tx1"/>
                </a:solidFill>
              </a:rPr>
              <a:t>Care拡販の打ち手は代理店網の戦力化に収れんするため、一括で付議すべきだ</a:t>
            </a:r>
          </a:p>
        </p:txBody>
      </p:sp>
      <p:sp>
        <p:nvSpPr>
          <p:cNvPr id="62" name="lead"/>
          <p:cNvSpPr txBox="1"/>
          <p:nvPr/>
        </p:nvSpPr>
        <p:spPr>
          <a:xfrm>
            <a:off x="546100" y="1507490"/>
            <a:ext cx="11948248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Altair Care拡販の3課題と打ち手（FY2025時点の整理、売上は年額）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47775" y="2622550"/>
            <a:ext cx="2794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chemeClr val="tx1"/>
                </a:solidFill>
              </a:rPr>
              <a:t>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085" y="2813050"/>
            <a:ext cx="906144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chemeClr val="tx1"/>
                </a:solidFill>
              </a:rPr>
              <a:t>販売網が薄い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03450" y="2330450"/>
            <a:ext cx="3105048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Care契約の入口が直販28拠点に限られる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81250" y="2574290"/>
            <a:ext cx="2863926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accent1"/>
                </a:solidFill>
              </a:rPr>
              <a:t>➢</a:t>
            </a:r>
            <a:r>
              <a:rPr sz="1000" b="0">
                <a:solidFill>
                  <a:schemeClr val="tx1"/>
                </a:solidFill>
              </a:rPr>
              <a:t> 稼働機の大半に提案が届いていない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24450" y="2330450"/>
            <a:ext cx="340762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稼働12.0万台のうちCare契約は0.9万台（8%）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24450" y="2574290"/>
            <a:ext cx="3323272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代理店経由の販売機には契約導線なし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2250" y="2818130"/>
            <a:ext cx="3058947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accent1"/>
                </a:solidFill>
              </a:rPr>
              <a:t>➢</a:t>
            </a:r>
            <a:r>
              <a:rPr sz="1000" b="0">
                <a:solidFill>
                  <a:schemeClr val="tx1"/>
                </a:solidFill>
              </a:rPr>
              <a:t> 未契約11.1万台が空白のまま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99450" y="2597150"/>
            <a:ext cx="3689794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一次代理店40社にCare販売権・手数料15%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99450" y="2840990"/>
            <a:ext cx="36152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提案カバー率を8%→60%へ（FY27）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77250" y="3084830"/>
            <a:ext cx="3329914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accent1"/>
                </a:solidFill>
              </a:rPr>
              <a:t>➢</a:t>
            </a:r>
            <a:r>
              <a:rPr sz="1000" b="1">
                <a:solidFill>
                  <a:schemeClr val="accent1"/>
                </a:solidFill>
              </a:rPr>
              <a:t>契約の入口を5倍</a:t>
            </a:r>
            <a:r>
              <a:rPr sz="1000" b="0">
                <a:solidFill>
                  <a:schemeClr val="tx1"/>
                </a:solidFill>
              </a:rPr>
              <a:t>に広げる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47775" y="3689350"/>
            <a:ext cx="2794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chemeClr val="tx1"/>
                </a:solidFill>
              </a:rPr>
              <a:t>②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5044" y="3879850"/>
            <a:ext cx="78486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chemeClr val="tx1"/>
                </a:solidFill>
              </a:rPr>
              <a:t>保守人材が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chemeClr val="tx1"/>
                </a:solidFill>
              </a:rPr>
              <a:t>足りない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03450" y="3492500"/>
            <a:ext cx="3067558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認定サービス員180人・平均年齢48歳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81250" y="3736340"/>
            <a:ext cx="27922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accent1"/>
                </a:solidFill>
              </a:rPr>
              <a:t>➢</a:t>
            </a:r>
            <a:r>
              <a:rPr sz="1000" b="0">
                <a:solidFill>
                  <a:schemeClr val="tx1"/>
                </a:solidFill>
              </a:rPr>
              <a:t> 契約を取っても履行が詰まる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24450" y="3492500"/>
            <a:ext cx="3291611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出動要請の23%が48時間超の待ち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4450" y="3736340"/>
            <a:ext cx="3316986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採用12人／年に対し退職14人で純減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02250" y="3980179"/>
            <a:ext cx="3049917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accent1"/>
                </a:solidFill>
              </a:rPr>
              <a:t>➢</a:t>
            </a:r>
            <a:r>
              <a:rPr sz="1000" b="0">
                <a:solidFill>
                  <a:schemeClr val="tx1"/>
                </a:solidFill>
              </a:rPr>
              <a:t> 現体制の履行上限は1.2万台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99450" y="3759200"/>
            <a:ext cx="359412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遠隔診断センターで出動を4割削減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99450" y="4003040"/>
            <a:ext cx="3607384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代理店技術者200人を認定し戦力化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77250" y="4246880"/>
            <a:ext cx="3371977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accent1"/>
                </a:solidFill>
              </a:rPr>
              <a:t>➢</a:t>
            </a:r>
            <a:r>
              <a:rPr sz="1000" b="0">
                <a:solidFill>
                  <a:schemeClr val="tx1"/>
                </a:solidFill>
              </a:rPr>
              <a:t> 履行能力を</a:t>
            </a:r>
            <a:r>
              <a:rPr sz="1000" b="1">
                <a:solidFill>
                  <a:schemeClr val="accent1"/>
                </a:solidFill>
              </a:rPr>
              <a:t>1.2万→5.0万台</a:t>
            </a:r>
            <a:r>
              <a:rPr sz="1000" b="0">
                <a:solidFill>
                  <a:schemeClr val="tx1"/>
                </a:solidFill>
              </a:rPr>
              <a:t>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47775" y="4946650"/>
            <a:ext cx="2794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chemeClr val="tx1"/>
                </a:solidFill>
              </a:rPr>
              <a:t>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044" y="5137150"/>
            <a:ext cx="1046022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chemeClr val="tx1"/>
                </a:solidFill>
              </a:rPr>
              <a:t>料金制度が単一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03450" y="4654550"/>
            <a:ext cx="3035896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年48万円の定額フルパック1本のみ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81250" y="4898390"/>
            <a:ext cx="288632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accent1"/>
                </a:solidFill>
              </a:rPr>
              <a:t>➢</a:t>
            </a:r>
            <a:r>
              <a:rPr sz="1000" b="0">
                <a:solidFill>
                  <a:schemeClr val="tx1"/>
                </a:solidFill>
              </a:rPr>
              <a:t> 小規模工場には過剰仕様で刺さらない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24450" y="4654550"/>
            <a:ext cx="3197428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失注理由の62%が「価格」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24450" y="4898390"/>
            <a:ext cx="3331616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稼働の55%は従業員100人未満の工場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02250" y="5142230"/>
            <a:ext cx="3035401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accent1"/>
                </a:solidFill>
              </a:rPr>
              <a:t>➢</a:t>
            </a:r>
            <a:r>
              <a:rPr sz="1000" b="0">
                <a:solidFill>
                  <a:schemeClr val="tx1"/>
                </a:solidFill>
              </a:rPr>
              <a:t> 主要客層と価格帯が不整合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99450" y="4921250"/>
            <a:ext cx="362018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ライト12万／標準48万／フル96万円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99450" y="5165090"/>
            <a:ext cx="3685451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tx1"/>
                </a:solidFill>
              </a:rPr>
              <a:t>■ 遠隔監視のみのライトを代理店の入口商品に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77250" y="5408930"/>
            <a:ext cx="3369805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marL="177800" indent="-177800"/>
            <a:r>
              <a:rPr sz="1000" b="0">
                <a:solidFill>
                  <a:schemeClr val="accent1"/>
                </a:solidFill>
              </a:rPr>
              <a:t>➢</a:t>
            </a:r>
            <a:r>
              <a:rPr sz="1000" b="0">
                <a:solidFill>
                  <a:schemeClr val="tx1"/>
                </a:solidFill>
              </a:rPr>
              <a:t> 単価×件数で</a:t>
            </a:r>
            <a:r>
              <a:rPr sz="1000" b="1">
                <a:solidFill>
                  <a:schemeClr val="accent1"/>
                </a:solidFill>
              </a:rPr>
              <a:t>80→300億円</a:t>
            </a:r>
            <a:r>
              <a:rPr sz="1000" b="0">
                <a:solidFill>
                  <a:schemeClr val="tx1"/>
                </a:solidFill>
              </a:rPr>
              <a:t>へ</a:t>
            </a:r>
          </a:p>
        </p:txBody>
      </p:sp>
      <p:sp>
        <p:nvSpPr>
          <p:cNvPr id="93" name="note_text"/>
          <p:cNvSpPr txBox="1"/>
          <p:nvPr/>
        </p:nvSpPr>
        <p:spPr>
          <a:xfrm>
            <a:off x="546100" y="6305550"/>
            <a:ext cx="5134952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chemeClr val="accent5"/>
                </a:solidFill>
              </a:rPr>
              <a:t>注：台数はセンサー搭載設備の稼働ベース推計。カバー率＝Care提案が届く稼働機の比率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6100" y="6546850"/>
            <a:ext cx="4578972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出所：アルタイル精機 経営企画部の整理（数値はすべて架空のモデル値）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351260" y="6546850"/>
            <a:ext cx="44704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</a:rPr>
              <a:t>型45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22222"/>
      </a:dk1>
      <a:lt1>
        <a:srgbClr val="FFFFFF"/>
      </a:lt1>
      <a:dk2>
        <a:srgbClr val="1565C0"/>
      </a:dk2>
      <a:lt2>
        <a:srgbClr val="EEF3F6"/>
      </a:lt2>
      <a:accent1>
        <a:srgbClr val="1976D2"/>
      </a:accent1>
      <a:accent2>
        <a:srgbClr val="D97706"/>
      </a:accent2>
      <a:accent3>
        <a:srgbClr val="D9DEE3"/>
      </a:accent3>
      <a:accent4>
        <a:srgbClr val="B7C3CE"/>
      </a:accent4>
      <a:accent5>
        <a:srgbClr val="6B7C85"/>
      </a:accent5>
      <a:accent6>
        <a:srgbClr val="51606E"/>
      </a:accent6>
      <a:hlink>
        <a:srgbClr val="1976D2"/>
      </a:hlink>
      <a:folHlink>
        <a:srgbClr val="6B7C85"/>
      </a:folHlink>
    </a:clrScheme>
    <a:fontScheme name="Office">
      <a:majorFont>
        <a:latin typeface="Yu Gothic"/>
        <a:ea typeface="Yu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Yu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